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i="0">
                <a:solidFill>
                  <a:srgbClr val="9AA4B2"/>
                </a:solidFill>
                <a:latin typeface="Arial"/>
              </a:rPr>
              <a:t>Peak severity MAE (% WEIGHTED ILI) by lead time</a:t>
            </a:r>
          </a:p>
        </c:rich>
      </c:tx>
      <c:layout/>
      <c:overlay val="0"/>
    </c:title>
    <c:autoTitleDeleted val="0"/>
    <c:plotArea>
      <c:lineChart>
        <c:grouping val="standard"/>
        <c:varyColors val="0"/>
        <c:ser>
          <c:idx val="0"/>
          <c:order val="0"/>
          <c:tx>
            <c:strRef>
              <c:f>Sheet1!$B$1</c:f>
              <c:strCache>
                <c:ptCount val="1"/>
                <c:pt idx="0">
                  <c:v>Climatology</c:v>
                </c:pt>
              </c:strCache>
            </c:strRef>
          </c:tx>
          <c:spPr>
            <a:ln w="22225">
              <a:solidFill>
                <a:srgbClr val="9AA4B2"/>
              </a:solidFill>
            </a:ln>
          </c:spPr>
          <c:marker>
            <c:symbol val="none"/>
          </c:marker>
          <c:cat>
            <c:strRef>
              <c:f>Sheet1!$A$2:$A$4</c:f>
              <c:strCache>
                <c:ptCount val="3"/>
                <c:pt idx="0">
                  <c:v>W=8</c:v>
                </c:pt>
                <c:pt idx="1">
                  <c:v>W=12</c:v>
                </c:pt>
                <c:pt idx="2">
                  <c:v>W=16</c:v>
                </c:pt>
              </c:strCache>
            </c:strRef>
          </c:cat>
          <c:val>
            <c:numRef>
              <c:f>Sheet1!$B$2:$B$4</c:f>
              <c:numCache>
                <c:formatCode>General</c:formatCode>
                <c:ptCount val="3"/>
                <c:pt idx="0">
                  <c:v>1.341</c:v>
                </c:pt>
                <c:pt idx="1">
                  <c:v>1.341</c:v>
                </c:pt>
                <c:pt idx="2">
                  <c:v>1.341</c:v>
                </c:pt>
              </c:numCache>
            </c:numRef>
          </c:val>
          <c:smooth val="0"/>
        </c:ser>
        <c:ser>
          <c:idx val="1"/>
          <c:order val="1"/>
          <c:tx>
            <c:strRef>
              <c:f>Sheet1!$C$1</c:f>
              <c:strCache>
                <c:ptCount val="1"/>
                <c:pt idx="0">
                  <c:v>Running-max floor</c:v>
                </c:pt>
              </c:strCache>
            </c:strRef>
          </c:tx>
          <c:spPr>
            <a:ln w="25400">
              <a:solidFill>
                <a:srgbClr val="FFB74D"/>
              </a:solidFill>
            </a:ln>
          </c:spPr>
          <c:marker>
            <c:symbol val="circle"/>
            <c:size val="6"/>
            <c:spPr>
              <a:solidFill>
                <a:srgbClr val="FFB74D"/>
              </a:solidFill>
              <a:ln>
                <a:solidFill>
                  <a:srgbClr val="FFB74D"/>
                </a:solidFill>
              </a:ln>
            </c:spPr>
          </c:marker>
          <c:cat>
            <c:strRef>
              <c:f>Sheet1!$A$2:$A$4</c:f>
              <c:strCache>
                <c:ptCount val="3"/>
                <c:pt idx="0">
                  <c:v>W=8</c:v>
                </c:pt>
                <c:pt idx="1">
                  <c:v>W=12</c:v>
                </c:pt>
                <c:pt idx="2">
                  <c:v>W=16</c:v>
                </c:pt>
              </c:strCache>
            </c:strRef>
          </c:cat>
          <c:val>
            <c:numRef>
              <c:f>Sheet1!$C$2:$C$4</c:f>
              <c:numCache>
                <c:formatCode>General</c:formatCode>
                <c:ptCount val="3"/>
                <c:pt idx="0">
                  <c:v>2.667</c:v>
                </c:pt>
                <c:pt idx="1">
                  <c:v>1.241</c:v>
                </c:pt>
                <c:pt idx="2">
                  <c:v>0.842</c:v>
                </c:pt>
              </c:numCache>
            </c:numRef>
          </c:val>
          <c:smooth val="0"/>
        </c:ser>
        <c:ser>
          <c:idx val="2"/>
          <c:order val="2"/>
          <c:tx>
            <c:strRef>
              <c:f>Sheet1!$D$1</c:f>
              <c:strCache>
                <c:ptCount val="1"/>
                <c:pt idx="0">
                  <c:v>Univariate regression</c:v>
                </c:pt>
              </c:strCache>
            </c:strRef>
          </c:tx>
          <c:spPr>
            <a:ln w="40640">
              <a:solidFill>
                <a:srgbClr val="66BB6A"/>
              </a:solidFill>
            </a:ln>
          </c:spPr>
          <c:marker>
            <c:symbol val="circle"/>
            <c:size val="8"/>
            <c:spPr>
              <a:solidFill>
                <a:srgbClr val="66BB6A"/>
              </a:solidFill>
              <a:ln>
                <a:solidFill>
                  <a:srgbClr val="66BB6A"/>
                </a:solidFill>
              </a:ln>
            </c:spPr>
          </c:marker>
          <c:cat>
            <c:strRef>
              <c:f>Sheet1!$A$2:$A$4</c:f>
              <c:strCache>
                <c:ptCount val="3"/>
                <c:pt idx="0">
                  <c:v>W=8</c:v>
                </c:pt>
                <c:pt idx="1">
                  <c:v>W=12</c:v>
                </c:pt>
                <c:pt idx="2">
                  <c:v>W=16</c:v>
                </c:pt>
              </c:strCache>
            </c:strRef>
          </c:cat>
          <c:val>
            <c:numRef>
              <c:f>Sheet1!$D$2:$D$4</c:f>
              <c:numCache>
                <c:formatCode>General</c:formatCode>
                <c:ptCount val="3"/>
                <c:pt idx="0">
                  <c:v>1.256</c:v>
                </c:pt>
                <c:pt idx="1">
                  <c:v>1.124</c:v>
                </c:pt>
                <c:pt idx="2">
                  <c:v>0.917</c:v>
                </c:pt>
              </c:numCache>
            </c:numRef>
          </c:val>
          <c:smooth val="0"/>
        </c:ser>
        <c:ser>
          <c:idx val="3"/>
          <c:order val="3"/>
          <c:tx>
            <c:strRef>
              <c:f>Sheet1!$E$1</c:f>
              <c:strCache>
                <c:ptCount val="1"/>
                <c:pt idx="0">
                  <c:v>Gaussian (n=19/18/5)</c:v>
                </c:pt>
              </c:strCache>
            </c:strRef>
          </c:tx>
          <c:spPr>
            <a:ln w="25400">
              <a:solidFill>
                <a:srgbClr val="EF5350"/>
              </a:solidFill>
            </a:ln>
          </c:spPr>
          <c:marker>
            <c:symbol val="circle"/>
            <c:size val="6"/>
            <c:spPr>
              <a:solidFill>
                <a:srgbClr val="EF5350"/>
              </a:solidFill>
              <a:ln>
                <a:solidFill>
                  <a:srgbClr val="EF5350"/>
                </a:solidFill>
              </a:ln>
            </c:spPr>
          </c:marker>
          <c:cat>
            <c:strRef>
              <c:f>Sheet1!$A$2:$A$4</c:f>
              <c:strCache>
                <c:ptCount val="3"/>
                <c:pt idx="0">
                  <c:v>W=8</c:v>
                </c:pt>
                <c:pt idx="1">
                  <c:v>W=12</c:v>
                </c:pt>
                <c:pt idx="2">
                  <c:v>W=16</c:v>
                </c:pt>
              </c:strCache>
            </c:strRef>
          </c:cat>
          <c:val>
            <c:numRef>
              <c:f>Sheet1!$E$2:$E$4</c:f>
              <c:numCache>
                <c:formatCode>General</c:formatCode>
                <c:ptCount val="3"/>
                <c:pt idx="0">
                  <c:v>2.324</c:v>
                </c:pt>
                <c:pt idx="1">
                  <c:v>2.586</c:v>
                </c:pt>
                <c:pt idx="2">
                  <c:v>1.47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2A303A"/>
            </a:solidFill>
          </a:ln>
        </c:spPr>
        <c:txPr>
          <a:bodyPr/>
          <a:lstStyle/>
          <a:p>
            <a:pPr>
              <a:defRPr sz="1100">
                <a:solidFill>
                  <a:srgbClr val="9AA4B2"/>
                </a:solidFill>
                <a:latin typeface="Arial"/>
              </a:defRPr>
            </a:pPr>
          </a:p>
        </c:txPr>
        <c:crossAx val="2140495176"/>
        <c:crosses val="autoZero"/>
        <c:auto val="1"/>
        <c:lblAlgn val="ctr"/>
        <c:lblOffset val="100"/>
        <c:noMultiLvlLbl val="0"/>
      </c:catAx>
      <c:valAx>
        <c:axId val="2140495176"/>
        <c:scaling/>
        <c:delete val="0"/>
        <c:axPos val="l"/>
        <c:majorGridlines>
          <c:spPr>
            <a:ln w="9525">
              <a:solidFill>
                <a:srgbClr val="2A303A"/>
              </a:solidFill>
            </a:ln>
          </c:spPr>
        </c:majorGridlines>
        <c:majorTickMark val="out"/>
        <c:minorTickMark val="none"/>
        <c:tickLblPos val="nextTo"/>
        <c:spPr>
          <a:ln>
            <a:solidFill>
              <a:srgbClr val="2A303A"/>
            </a:solidFill>
          </a:ln>
        </c:spPr>
        <c:txPr>
          <a:bodyPr/>
          <a:lstStyle/>
          <a:p>
            <a:pPr>
              <a:defRPr sz="1100">
                <a:solidFill>
                  <a:srgbClr val="9AA4B2"/>
                </a:solidFill>
                <a:latin typeface="Arial"/>
              </a:defRPr>
            </a:pPr>
          </a:p>
        </c:txPr>
        <c:crossAx val="2118791784"/>
        <c:crosses val="autoZero"/>
      </c:valAx>
    </c:plotArea>
    <c:legend>
      <c:legendPos val="b"/>
      <c:layout/>
      <c:overlay val="0"/>
      <c:txPr>
        <a:bodyPr/>
        <a:lstStyle/>
        <a:p>
          <a:pPr>
            <a:defRPr sz="1000">
              <a:solidFill>
                <a:srgbClr val="E6EAF0"/>
              </a:solidFill>
            </a:defRPr>
          </a:pPr>
        </a:p>
      </c:txPr>
    </c:legend>
    <c:plotVisOnly val="1"/>
    <c:dispBlanksAs val="gap"/>
    <c:showDLblsOverMax val="0"/>
  </c:chart>
  <c:spPr>
    <a:solidFill>
      <a:srgbClr val="161B22"/>
    </a:solidFill>
    <a:ln>
      <a:noFill/>
    </a:ln>
  </c:spPr>
  <c:txPr>
    <a:bodyPr/>
    <a:lstStyle/>
    <a:p>
      <a:pPr>
        <a:defRPr sz="1100">
          <a:solidFill>
            <a:srgbClr val="E6EAF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i="0">
                <a:solidFill>
                  <a:srgbClr val="9AA4B2"/>
                </a:solidFill>
                <a:latin typeface="Arial"/>
              </a:rPr>
              <a:t>Coverage of the 80% interval (nominal = 80%)</a:t>
            </a:r>
          </a:p>
        </c:rich>
      </c:tx>
      <c:layout/>
      <c:overlay val="0"/>
    </c:title>
    <c:autoTitleDeleted val="0"/>
    <c:plotArea>
      <c:lineChart>
        <c:grouping val="standard"/>
        <c:varyColors val="0"/>
        <c:ser>
          <c:idx val="0"/>
          <c:order val="0"/>
          <c:tx>
            <c:strRef>
              <c:f>Sheet1!$B$1</c:f>
              <c:strCache>
                <c:ptCount val="1"/>
                <c:pt idx="0">
                  <c:v>Prophet empirical 80% coverage</c:v>
                </c:pt>
              </c:strCache>
            </c:strRef>
          </c:tx>
          <c:spPr>
            <a:ln w="40640">
              <a:solidFill>
                <a:srgbClr val="EF5350"/>
              </a:solidFill>
            </a:ln>
          </c:spPr>
          <c:marker>
            <c:symbol val="circle"/>
            <c:size val="9"/>
            <c:spPr>
              <a:solidFill>
                <a:srgbClr val="EF5350"/>
              </a:solidFill>
              <a:ln>
                <a:solidFill>
                  <a:srgbClr val="EF5350"/>
                </a:solidFill>
              </a:ln>
            </c:spPr>
          </c:marker>
          <c:dLbls>
            <c:numFmt formatCode="0.0&quot;%&quot;" sourceLinked="0"/>
            <c:txPr>
              <a:bodyPr/>
              <a:lstStyle/>
              <a:p>
                <a:pPr>
                  <a:defRPr sz="1100" b="1">
                    <a:solidFill>
                      <a:srgbClr val="E6EAF0"/>
                    </a:solidFill>
                  </a:defRPr>
                </a:pPr>
              </a:p>
            </c:txPr>
            <c:dLblPos val="t"/>
            <c:showLegendKey val="0"/>
            <c:showVal val="1"/>
            <c:showCatName val="0"/>
            <c:showSerName val="0"/>
            <c:showPercent val="0"/>
            <c:showBubbleSize val="0"/>
            <c:showLeaderLines val="1"/>
          </c:dLbls>
          <c:cat>
            <c:strRef>
              <c:f>Sheet1!$A$2:$A$4</c:f>
              <c:strCache>
                <c:ptCount val="3"/>
                <c:pt idx="0">
                  <c:v>W=8</c:v>
                </c:pt>
                <c:pt idx="1">
                  <c:v>W=12</c:v>
                </c:pt>
                <c:pt idx="2">
                  <c:v>W=16</c:v>
                </c:pt>
              </c:strCache>
            </c:strRef>
          </c:cat>
          <c:val>
            <c:numRef>
              <c:f>Sheet1!$B$2:$B$4</c:f>
              <c:numCache>
                <c:formatCode>General</c:formatCode>
                <c:ptCount val="3"/>
                <c:pt idx="0">
                  <c:v>10.5</c:v>
                </c:pt>
                <c:pt idx="1">
                  <c:v>5.9</c:v>
                </c:pt>
                <c:pt idx="2">
                  <c:v>8.3</c:v>
                </c:pt>
              </c:numCache>
            </c:numRef>
          </c:val>
          <c:smooth val="0"/>
        </c:ser>
        <c:ser>
          <c:idx val="1"/>
          <c:order val="1"/>
          <c:tx>
            <c:strRef>
              <c:f>Sheet1!$C$1</c:f>
              <c:strCache>
                <c:ptCount val="1"/>
                <c:pt idx="0">
                  <c:v>Nominal 80%</c:v>
                </c:pt>
              </c:strCache>
            </c:strRef>
          </c:tx>
          <c:spPr>
            <a:ln w="25400">
              <a:solidFill>
                <a:srgbClr val="66BB6A"/>
              </a:solidFill>
              <a:prstDash val="dash"/>
            </a:ln>
          </c:spPr>
          <c:marker>
            <c:symbol val="none"/>
          </c:marker>
          <c:cat>
            <c:strRef>
              <c:f>Sheet1!$A$2:$A$4</c:f>
              <c:strCache>
                <c:ptCount val="3"/>
                <c:pt idx="0">
                  <c:v>W=8</c:v>
                </c:pt>
                <c:pt idx="1">
                  <c:v>W=12</c:v>
                </c:pt>
                <c:pt idx="2">
                  <c:v>W=16</c:v>
                </c:pt>
              </c:strCache>
            </c:strRef>
          </c:cat>
          <c:val>
            <c:numRef>
              <c:f>Sheet1!$C$2:$C$4</c:f>
              <c:numCache>
                <c:formatCode>General</c:formatCode>
                <c:ptCount val="3"/>
                <c:pt idx="0">
                  <c:v>80</c:v>
                </c:pt>
                <c:pt idx="1">
                  <c:v>80</c:v>
                </c:pt>
                <c:pt idx="2">
                  <c:v>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2A303A"/>
            </a:solidFill>
          </a:ln>
        </c:spPr>
        <c:txPr>
          <a:bodyPr/>
          <a:lstStyle/>
          <a:p>
            <a:pPr>
              <a:defRPr sz="1100">
                <a:solidFill>
                  <a:srgbClr val="9AA4B2"/>
                </a:solidFill>
                <a:latin typeface="Arial"/>
              </a:defRPr>
            </a:pPr>
          </a:p>
        </c:txPr>
        <c:crossAx val="2140495176"/>
        <c:crosses val="autoZero"/>
        <c:auto val="1"/>
        <c:lblAlgn val="ctr"/>
        <c:lblOffset val="100"/>
        <c:noMultiLvlLbl val="0"/>
      </c:catAx>
      <c:valAx>
        <c:axId val="2140495176"/>
        <c:scaling>
          <c:max val="100.0"/>
          <c:min val="0.0"/>
        </c:scaling>
        <c:delete val="0"/>
        <c:axPos val="l"/>
        <c:majorGridlines>
          <c:spPr>
            <a:ln w="9525">
              <a:solidFill>
                <a:srgbClr val="2A303A"/>
              </a:solidFill>
            </a:ln>
          </c:spPr>
        </c:majorGridlines>
        <c:majorTickMark val="out"/>
        <c:minorTickMark val="none"/>
        <c:tickLblPos val="nextTo"/>
        <c:spPr>
          <a:ln>
            <a:solidFill>
              <a:srgbClr val="2A303A"/>
            </a:solidFill>
          </a:ln>
        </c:spPr>
        <c:txPr>
          <a:bodyPr/>
          <a:lstStyle/>
          <a:p>
            <a:pPr>
              <a:defRPr sz="1100">
                <a:solidFill>
                  <a:srgbClr val="9AA4B2"/>
                </a:solidFill>
                <a:latin typeface="Arial"/>
              </a:defRPr>
            </a:pPr>
          </a:p>
        </c:txPr>
        <c:crossAx val="2118791784"/>
        <c:crosses val="autoZero"/>
      </c:valAx>
    </c:plotArea>
    <c:legend>
      <c:legendPos val="b"/>
      <c:layout/>
      <c:overlay val="0"/>
      <c:txPr>
        <a:bodyPr/>
        <a:lstStyle/>
        <a:p>
          <a:pPr>
            <a:defRPr sz="1000">
              <a:solidFill>
                <a:srgbClr val="E6EAF0"/>
              </a:solidFill>
            </a:defRPr>
          </a:pPr>
        </a:p>
      </c:txPr>
    </c:legend>
    <c:plotVisOnly val="1"/>
    <c:dispBlanksAs val="gap"/>
    <c:showDLblsOverMax val="0"/>
  </c:chart>
  <c:spPr>
    <a:solidFill>
      <a:srgbClr val="161B22"/>
    </a:solidFill>
    <a:ln>
      <a:noFill/>
    </a:ln>
  </c:spPr>
  <c:txPr>
    <a:bodyPr/>
    <a:lstStyle/>
    <a:p>
      <a:pPr>
        <a:defRPr sz="1100">
          <a:solidFill>
            <a:srgbClr val="E6EAF0"/>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WITHIN-SEASON FORECASTING  ·  US CDC SURVEILLANCE</a:t>
            </a:r>
          </a:p>
        </p:txBody>
      </p:sp>
      <p:sp>
        <p:nvSpPr>
          <p:cNvPr id="4" name="TextBox 3"/>
          <p:cNvSpPr txBox="1"/>
          <p:nvPr/>
        </p:nvSpPr>
        <p:spPr>
          <a:xfrm>
            <a:off x="685800" y="2011680"/>
            <a:ext cx="10241280" cy="2011680"/>
          </a:xfrm>
          <a:prstGeom prst="rect">
            <a:avLst/>
          </a:prstGeom>
          <a:noFill/>
        </p:spPr>
        <p:txBody>
          <a:bodyPr wrap="square" anchor="t" lIns="0" rIns="0" tIns="0" bIns="0">
            <a:spAutoFit/>
          </a:bodyPr>
          <a:lstStyle/>
          <a:p>
            <a:r>
              <a:rPr sz="4600" b="1" i="0">
                <a:solidFill>
                  <a:srgbClr val="FFFFFF"/>
                </a:solidFill>
                <a:latin typeface="Arial"/>
              </a:rPr>
              <a:t>Forecasting Influenza Season Peaks:</a:t>
            </a:r>
          </a:p>
          <a:p>
            <a:r>
              <a:rPr sz="4600" b="1" i="0">
                <a:solidFill>
                  <a:srgbClr val="FFFFFF"/>
                </a:solidFill>
                <a:latin typeface="Arial"/>
              </a:rPr>
              <a:t>what the data can and cannot support</a:t>
            </a:r>
          </a:p>
        </p:txBody>
      </p:sp>
      <p:sp>
        <p:nvSpPr>
          <p:cNvPr id="5" name="TextBox 4"/>
          <p:cNvSpPr txBox="1"/>
          <p:nvPr/>
        </p:nvSpPr>
        <p:spPr>
          <a:xfrm>
            <a:off x="685800" y="4114800"/>
            <a:ext cx="8778240" cy="914400"/>
          </a:xfrm>
          <a:prstGeom prst="rect">
            <a:avLst/>
          </a:prstGeom>
          <a:noFill/>
        </p:spPr>
        <p:txBody>
          <a:bodyPr wrap="square" anchor="t" lIns="0" rIns="0" tIns="0" bIns="0">
            <a:spAutoFit/>
          </a:bodyPr>
          <a:lstStyle/>
          <a:p>
            <a:pPr>
              <a:lnSpc>
                <a:spcPct val="120000"/>
              </a:lnSpc>
            </a:pPr>
            <a:r>
              <a:rPr sz="1700" b="0" i="0">
                <a:solidFill>
                  <a:srgbClr val="9AA4B2"/>
                </a:solidFill>
                <a:latin typeface="Arial"/>
              </a:rPr>
              <a:t>A characterization study of peak timing and peak severity across 22 seasons of national ILI data. Honest floors, a strict leakage firewall, and where off-the-shelf models actually stand.</a:t>
            </a:r>
          </a:p>
        </p:txBody>
      </p:sp>
      <p:sp>
        <p:nvSpPr>
          <p:cNvPr id="6" name="TextBox 5"/>
          <p:cNvSpPr txBox="1"/>
          <p:nvPr/>
        </p:nvSpPr>
        <p:spPr>
          <a:xfrm>
            <a:off x="685800" y="5669280"/>
            <a:ext cx="10058400" cy="457200"/>
          </a:xfrm>
          <a:prstGeom prst="rect">
            <a:avLst/>
          </a:prstGeom>
          <a:noFill/>
        </p:spPr>
        <p:txBody>
          <a:bodyPr wrap="square" anchor="t" lIns="0" rIns="0" tIns="0" bIns="0">
            <a:spAutoFit/>
          </a:bodyPr>
          <a:lstStyle/>
          <a:p>
            <a:r>
              <a:rPr sz="1300" b="0" i="0">
                <a:solidFill>
                  <a:srgbClr val="9AA4B2"/>
                </a:solidFill>
                <a:latin typeface="Arial"/>
              </a:rPr>
              <a:t>Joshua  ·  advised by Dr. Subhro Mitra  ·  2026-07-10  ·  preliminary and descriptive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MOTIVATION &amp; DATA</a:t>
            </a:r>
          </a:p>
        </p:txBody>
      </p:sp>
      <p:sp>
        <p:nvSpPr>
          <p:cNvPr id="4" name="TextBox 3"/>
          <p:cNvSpPr txBox="1"/>
          <p:nvPr/>
        </p:nvSpPr>
        <p:spPr>
          <a:xfrm>
            <a:off x="685800" y="868680"/>
            <a:ext cx="10820095" cy="1188720"/>
          </a:xfrm>
          <a:prstGeom prst="rect">
            <a:avLst/>
          </a:prstGeom>
          <a:noFill/>
        </p:spPr>
        <p:txBody>
          <a:bodyPr wrap="square" anchor="t" lIns="0" rIns="0" tIns="0" bIns="0">
            <a:spAutoFit/>
          </a:bodyPr>
          <a:lstStyle/>
          <a:p>
            <a:r>
              <a:rPr sz="3000" b="1" i="0">
                <a:solidFill>
                  <a:srgbClr val="FFFFFF"/>
                </a:solidFill>
                <a:latin typeface="Arial"/>
              </a:rPr>
              <a:t>Two season-level questions, one honest test bed</a:t>
            </a:r>
          </a:p>
        </p:txBody>
      </p:sp>
      <p:sp>
        <p:nvSpPr>
          <p:cNvPr id="5" name="TextBox 4"/>
          <p:cNvSpPr txBox="1"/>
          <p:nvPr/>
        </p:nvSpPr>
        <p:spPr>
          <a:xfrm>
            <a:off x="685800" y="2057400"/>
            <a:ext cx="5486400" cy="2926080"/>
          </a:xfrm>
          <a:prstGeom prst="rect">
            <a:avLst/>
          </a:prstGeom>
          <a:noFill/>
        </p:spPr>
        <p:txBody>
          <a:bodyPr wrap="square" anchor="t" lIns="0" rIns="0" tIns="0" bIns="0">
            <a:spAutoFit/>
          </a:bodyPr>
          <a:lstStyle/>
          <a:p>
            <a:pPr>
              <a:lnSpc>
                <a:spcPct val="115000"/>
              </a:lnSpc>
              <a:spcAft>
                <a:spcPts val="1200"/>
              </a:spcAft>
            </a:pPr>
            <a:r>
              <a:rPr sz="1300" b="1" i="0">
                <a:solidFill>
                  <a:srgbClr val="4FC3F7"/>
                </a:solidFill>
                <a:latin typeface="Arial"/>
              </a:rPr>
              <a:t>●  </a:t>
            </a:r>
            <a:r>
              <a:rPr sz="1600" b="1" i="0">
                <a:solidFill>
                  <a:srgbClr val="E6EAF0"/>
                </a:solidFill>
                <a:latin typeface="Arial"/>
              </a:rPr>
              <a:t>Peak timing</a:t>
            </a:r>
            <a:r>
              <a:rPr sz="1600" b="0" i="0">
                <a:solidFill>
                  <a:srgbClr val="E6EAF0"/>
                </a:solidFill>
                <a:latin typeface="Arial"/>
              </a:rPr>
              <a:t>: the MMWR week ILI activity peaks.</a:t>
            </a:r>
          </a:p>
          <a:p>
            <a:pPr>
              <a:lnSpc>
                <a:spcPct val="115000"/>
              </a:lnSpc>
              <a:spcAft>
                <a:spcPts val="1200"/>
              </a:spcAft>
            </a:pPr>
            <a:r>
              <a:rPr sz="1300" b="1" i="0">
                <a:solidFill>
                  <a:srgbClr val="4FC3F7"/>
                </a:solidFill>
                <a:latin typeface="Arial"/>
              </a:rPr>
              <a:t>●  </a:t>
            </a:r>
            <a:r>
              <a:rPr sz="1600" b="1" i="0">
                <a:solidFill>
                  <a:srgbClr val="E6EAF0"/>
                </a:solidFill>
                <a:latin typeface="Arial"/>
              </a:rPr>
              <a:t>Peak severity</a:t>
            </a:r>
            <a:r>
              <a:rPr sz="1600" b="0" i="0">
                <a:solidFill>
                  <a:srgbClr val="E6EAF0"/>
                </a:solidFill>
                <a:latin typeface="Arial"/>
              </a:rPr>
              <a:t>: the % WEIGHTED ILI at that peak.</a:t>
            </a:r>
          </a:p>
          <a:p>
            <a:pPr>
              <a:lnSpc>
                <a:spcPct val="115000"/>
              </a:lnSpc>
              <a:spcAft>
                <a:spcPts val="1200"/>
              </a:spcAft>
            </a:pPr>
            <a:r>
              <a:rPr sz="1300" b="1" i="0">
                <a:solidFill>
                  <a:srgbClr val="4FC3F7"/>
                </a:solidFill>
                <a:latin typeface="Arial"/>
              </a:rPr>
              <a:t>●  </a:t>
            </a:r>
            <a:r>
              <a:rPr sz="1600" b="0" i="0">
                <a:solidFill>
                  <a:srgbClr val="E6EAF0"/>
                </a:solidFill>
                <a:latin typeface="Arial"/>
              </a:rPr>
              <a:t>Framed </a:t>
            </a:r>
            <a:r>
              <a:rPr sz="1600" b="1" i="0">
                <a:solidFill>
                  <a:srgbClr val="E6EAF0"/>
                </a:solidFill>
                <a:latin typeface="Arial"/>
              </a:rPr>
              <a:t>within-season</a:t>
            </a:r>
            <a:r>
              <a:rPr sz="1600" b="0" i="0">
                <a:solidFill>
                  <a:srgbClr val="E6EAF0"/>
                </a:solidFill>
                <a:latin typeface="Arial"/>
              </a:rPr>
              <a:t>: stand at decision week W, use only data through W, forecast the rest.</a:t>
            </a:r>
          </a:p>
          <a:p>
            <a:pPr>
              <a:lnSpc>
                <a:spcPct val="115000"/>
              </a:lnSpc>
              <a:spcAft>
                <a:spcPts val="1200"/>
              </a:spcAft>
            </a:pPr>
            <a:r>
              <a:rPr sz="1300" b="1" i="0">
                <a:solidFill>
                  <a:srgbClr val="4FC3F7"/>
                </a:solidFill>
                <a:latin typeface="Arial"/>
              </a:rPr>
              <a:t>●  </a:t>
            </a:r>
            <a:r>
              <a:rPr sz="1600" b="0" i="0">
                <a:solidFill>
                  <a:srgbClr val="E6EAF0"/>
                </a:solidFill>
                <a:latin typeface="Arial"/>
              </a:rPr>
              <a:t>Validation is </a:t>
            </a:r>
            <a:r>
              <a:rPr sz="1600" b="1" i="0">
                <a:solidFill>
                  <a:srgbClr val="E6EAF0"/>
                </a:solidFill>
                <a:latin typeface="Arial"/>
              </a:rPr>
              <a:t>leave-one-season-out</a:t>
            </a:r>
            <a:r>
              <a:rPr sz="1600" b="0" i="0">
                <a:solidFill>
                  <a:srgbClr val="E6EAF0"/>
                </a:solidFill>
                <a:latin typeface="Arial"/>
              </a:rPr>
              <a:t>; decision weeks W = 8, 12, 16.</a:t>
            </a:r>
          </a:p>
        </p:txBody>
      </p:sp>
      <p:graphicFrame>
        <p:nvGraphicFramePr>
          <p:cNvPr id="6" name="Table 5"/>
          <p:cNvGraphicFramePr>
            <a:graphicFrameLocks noGrp="1"/>
          </p:cNvGraphicFramePr>
          <p:nvPr/>
        </p:nvGraphicFramePr>
        <p:xfrm>
          <a:off x="6492240" y="1965960"/>
          <a:ext cx="4983480" cy="1554480"/>
        </p:xfrm>
        <a:graphic>
          <a:graphicData uri="http://schemas.openxmlformats.org/drawingml/2006/table">
            <a:tbl>
              <a:tblPr>
                <a:tableStyleId>{5C22544A-7EE6-4342-B048-85BDC9FD1C3A}</a:tableStyleId>
              </a:tblPr>
              <a:tblGrid>
                <a:gridCol w="1661160"/>
                <a:gridCol w="1661160"/>
                <a:gridCol w="1661160"/>
              </a:tblGrid>
              <a:tr h="310896">
                <a:tc>
                  <a:txBody>
                    <a:bodyPr/>
                    <a:lstStyle/>
                    <a:p>
                      <a:pPr algn="l"/>
                      <a:r>
                        <a:rPr sz="1300" b="1" i="0">
                          <a:solidFill>
                            <a:srgbClr val="9AA4B2"/>
                          </a:solidFill>
                          <a:latin typeface="Arial"/>
                        </a:rPr>
                        <a:t>Source</a:t>
                      </a:r>
                    </a:p>
                  </a:txBody>
                  <a:tcPr marL="91440" marR="91440" marT="36576" marB="36576" anchor="ctr">
                    <a:solidFill>
                      <a:srgbClr val="161B22"/>
                    </a:solidFill>
                  </a:tcPr>
                </a:tc>
                <a:tc>
                  <a:txBody>
                    <a:bodyPr/>
                    <a:lstStyle/>
                    <a:p>
                      <a:pPr algn="r"/>
                      <a:r>
                        <a:rPr sz="1300" b="1" i="0">
                          <a:solidFill>
                            <a:srgbClr val="9AA4B2"/>
                          </a:solidFill>
                          <a:latin typeface="Arial"/>
                        </a:rPr>
                        <a:t>Role</a:t>
                      </a:r>
                    </a:p>
                  </a:txBody>
                  <a:tcPr marL="91440" marR="91440" marT="36576" marB="36576" anchor="ctr">
                    <a:solidFill>
                      <a:srgbClr val="161B22"/>
                    </a:solidFill>
                  </a:tcPr>
                </a:tc>
                <a:tc>
                  <a:txBody>
                    <a:bodyPr/>
                    <a:lstStyle/>
                    <a:p>
                      <a:pPr algn="r"/>
                      <a:r>
                        <a:rPr sz="1300" b="1" i="0">
                          <a:solidFill>
                            <a:srgbClr val="9AA4B2"/>
                          </a:solidFill>
                          <a:latin typeface="Arial"/>
                        </a:rPr>
                        <a:t>Coverage</a:t>
                      </a:r>
                    </a:p>
                  </a:txBody>
                  <a:tcPr marL="91440" marR="91440" marT="36576" marB="36576" anchor="ctr">
                    <a:solidFill>
                      <a:srgbClr val="161B22"/>
                    </a:solidFill>
                  </a:tcPr>
                </a:tc>
              </a:tr>
              <a:tr h="310896">
                <a:tc>
                  <a:txBody>
                    <a:bodyPr/>
                    <a:lstStyle/>
                    <a:p>
                      <a:pPr algn="l"/>
                      <a:r>
                        <a:rPr sz="1300" b="0" i="0">
                          <a:solidFill>
                            <a:srgbClr val="9AA4B2"/>
                          </a:solidFill>
                          <a:latin typeface="Arial"/>
                        </a:rPr>
                        <a:t>ILINet (% WEIGHTED ILI)</a:t>
                      </a:r>
                    </a:p>
                  </a:txBody>
                  <a:tcPr marL="91440" marR="91440" marT="36576" marB="36576" anchor="ctr">
                    <a:solidFill>
                      <a:srgbClr val="161B22"/>
                    </a:solidFill>
                  </a:tcPr>
                </a:tc>
                <a:tc>
                  <a:txBody>
                    <a:bodyPr/>
                    <a:lstStyle/>
                    <a:p>
                      <a:pPr algn="r"/>
                      <a:r>
                        <a:rPr sz="1300" b="0" i="0">
                          <a:solidFill>
                            <a:srgbClr val="E6EAF0"/>
                          </a:solidFill>
                          <a:latin typeface="Arial"/>
                        </a:rPr>
                        <a:t>target</a:t>
                      </a:r>
                    </a:p>
                  </a:txBody>
                  <a:tcPr marL="91440" marR="91440" marT="36576" marB="36576" anchor="ctr">
                    <a:solidFill>
                      <a:srgbClr val="161B22"/>
                    </a:solidFill>
                  </a:tcPr>
                </a:tc>
                <a:tc>
                  <a:txBody>
                    <a:bodyPr/>
                    <a:lstStyle/>
                    <a:p>
                      <a:pPr algn="r"/>
                      <a:r>
                        <a:rPr sz="1300" b="0" i="0">
                          <a:solidFill>
                            <a:srgbClr val="E6EAF0"/>
                          </a:solidFill>
                          <a:latin typeface="Arial"/>
                        </a:rPr>
                        <a:t>2003+</a:t>
                      </a:r>
                    </a:p>
                  </a:txBody>
                  <a:tcPr marL="91440" marR="91440" marT="36576" marB="36576" anchor="ctr">
                    <a:solidFill>
                      <a:srgbClr val="161B22"/>
                    </a:solidFill>
                  </a:tcPr>
                </a:tc>
              </a:tr>
              <a:tr h="310896">
                <a:tc>
                  <a:txBody>
                    <a:bodyPr/>
                    <a:lstStyle/>
                    <a:p>
                      <a:pPr algn="l"/>
                      <a:r>
                        <a:rPr sz="1300" b="0" i="0">
                          <a:solidFill>
                            <a:srgbClr val="9AA4B2"/>
                          </a:solidFill>
                          <a:latin typeface="Arial"/>
                        </a:rPr>
                        <a:t>NREVSS strain</a:t>
                      </a:r>
                    </a:p>
                  </a:txBody>
                  <a:tcPr marL="91440" marR="91440" marT="36576" marB="36576" anchor="ctr">
                    <a:solidFill>
                      <a:srgbClr val="161B22"/>
                    </a:solidFill>
                  </a:tcPr>
                </a:tc>
                <a:tc>
                  <a:txBody>
                    <a:bodyPr/>
                    <a:lstStyle/>
                    <a:p>
                      <a:pPr algn="r"/>
                      <a:r>
                        <a:rPr sz="1300" b="0" i="0">
                          <a:solidFill>
                            <a:srgbClr val="E6EAF0"/>
                          </a:solidFill>
                          <a:latin typeface="Arial"/>
                        </a:rPr>
                        <a:t>feature</a:t>
                      </a:r>
                    </a:p>
                  </a:txBody>
                  <a:tcPr marL="91440" marR="91440" marT="36576" marB="36576" anchor="ctr">
                    <a:solidFill>
                      <a:srgbClr val="161B22"/>
                    </a:solidFill>
                  </a:tcPr>
                </a:tc>
                <a:tc>
                  <a:txBody>
                    <a:bodyPr/>
                    <a:lstStyle/>
                    <a:p>
                      <a:pPr algn="r"/>
                      <a:r>
                        <a:rPr sz="1300" b="0" i="0">
                          <a:solidFill>
                            <a:srgbClr val="E6EAF0"/>
                          </a:solidFill>
                          <a:latin typeface="Arial"/>
                        </a:rPr>
                        <a:t>2003+</a:t>
                      </a:r>
                    </a:p>
                  </a:txBody>
                  <a:tcPr marL="91440" marR="91440" marT="36576" marB="36576" anchor="ctr">
                    <a:solidFill>
                      <a:srgbClr val="161B22"/>
                    </a:solidFill>
                  </a:tcPr>
                </a:tc>
              </a:tr>
              <a:tr h="310896">
                <a:tc>
                  <a:txBody>
                    <a:bodyPr/>
                    <a:lstStyle/>
                    <a:p>
                      <a:pPr algn="l"/>
                      <a:r>
                        <a:rPr sz="1300" b="0" i="0">
                          <a:solidFill>
                            <a:srgbClr val="9AA4B2"/>
                          </a:solidFill>
                          <a:latin typeface="Arial"/>
                        </a:rPr>
                        <a:t>FluSurv-NET hosp.</a:t>
                      </a:r>
                    </a:p>
                  </a:txBody>
                  <a:tcPr marL="91440" marR="91440" marT="36576" marB="36576" anchor="ctr">
                    <a:solidFill>
                      <a:srgbClr val="161B22"/>
                    </a:solidFill>
                  </a:tcPr>
                </a:tc>
                <a:tc>
                  <a:txBody>
                    <a:bodyPr/>
                    <a:lstStyle/>
                    <a:p>
                      <a:pPr algn="r"/>
                      <a:r>
                        <a:rPr sz="1300" b="0" i="0">
                          <a:solidFill>
                            <a:srgbClr val="E6EAF0"/>
                          </a:solidFill>
                          <a:latin typeface="Arial"/>
                        </a:rPr>
                        <a:t>enrichment</a:t>
                      </a:r>
                    </a:p>
                  </a:txBody>
                  <a:tcPr marL="91440" marR="91440" marT="36576" marB="36576" anchor="ctr">
                    <a:solidFill>
                      <a:srgbClr val="161B22"/>
                    </a:solidFill>
                  </a:tcPr>
                </a:tc>
                <a:tc>
                  <a:txBody>
                    <a:bodyPr/>
                    <a:lstStyle/>
                    <a:p>
                      <a:pPr algn="r"/>
                      <a:r>
                        <a:rPr sz="1300" b="0" i="0">
                          <a:solidFill>
                            <a:srgbClr val="E6EAF0"/>
                          </a:solidFill>
                          <a:latin typeface="Arial"/>
                        </a:rPr>
                        <a:t>2009+</a:t>
                      </a:r>
                    </a:p>
                  </a:txBody>
                  <a:tcPr marL="91440" marR="91440" marT="36576" marB="36576" anchor="ctr">
                    <a:solidFill>
                      <a:srgbClr val="161B22"/>
                    </a:solidFill>
                  </a:tcPr>
                </a:tc>
              </a:tr>
              <a:tr h="310896">
                <a:tc>
                  <a:txBody>
                    <a:bodyPr/>
                    <a:lstStyle/>
                    <a:p>
                      <a:pPr algn="l"/>
                      <a:r>
                        <a:rPr sz="1300" b="0" i="0">
                          <a:solidFill>
                            <a:srgbClr val="9AA4B2"/>
                          </a:solidFill>
                          <a:latin typeface="Arial"/>
                        </a:rPr>
                        <a:t>FluVaxView coverage</a:t>
                      </a:r>
                    </a:p>
                  </a:txBody>
                  <a:tcPr marL="91440" marR="91440" marT="36576" marB="36576" anchor="ctr">
                    <a:solidFill>
                      <a:srgbClr val="161B22"/>
                    </a:solidFill>
                  </a:tcPr>
                </a:tc>
                <a:tc>
                  <a:txBody>
                    <a:bodyPr/>
                    <a:lstStyle/>
                    <a:p>
                      <a:pPr algn="r"/>
                      <a:r>
                        <a:rPr sz="1300" b="0" i="0">
                          <a:solidFill>
                            <a:srgbClr val="E6EAF0"/>
                          </a:solidFill>
                          <a:latin typeface="Arial"/>
                        </a:rPr>
                        <a:t>enrichment</a:t>
                      </a:r>
                    </a:p>
                  </a:txBody>
                  <a:tcPr marL="91440" marR="91440" marT="36576" marB="36576" anchor="ctr">
                    <a:solidFill>
                      <a:srgbClr val="161B22"/>
                    </a:solidFill>
                  </a:tcPr>
                </a:tc>
                <a:tc>
                  <a:txBody>
                    <a:bodyPr/>
                    <a:lstStyle/>
                    <a:p>
                      <a:pPr algn="r"/>
                      <a:r>
                        <a:rPr sz="1300" b="0" i="0">
                          <a:solidFill>
                            <a:srgbClr val="E6EAF0"/>
                          </a:solidFill>
                          <a:latin typeface="Arial"/>
                        </a:rPr>
                        <a:t>2009+</a:t>
                      </a:r>
                    </a:p>
                  </a:txBody>
                  <a:tcPr marL="91440" marR="91440" marT="36576" marB="36576" anchor="ctr">
                    <a:solidFill>
                      <a:srgbClr val="161B22"/>
                    </a:solidFill>
                  </a:tcPr>
                </a:tc>
              </a:tr>
            </a:tbl>
          </a:graphicData>
        </a:graphic>
      </p:graphicFrame>
      <p:sp>
        <p:nvSpPr>
          <p:cNvPr id="7" name="Rounded Rectangle 6"/>
          <p:cNvSpPr/>
          <p:nvPr/>
        </p:nvSpPr>
        <p:spPr>
          <a:xfrm>
            <a:off x="6492240" y="4160520"/>
            <a:ext cx="2331720" cy="1143000"/>
          </a:xfrm>
          <a:prstGeom prst="roundRect">
            <a:avLst/>
          </a:prstGeom>
          <a:solidFill>
            <a:srgbClr val="161B22"/>
          </a:solidFill>
          <a:ln w="12700">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109728" bIns="91440"/>
          <a:lstStyle/>
          <a:p>
            <a:pPr algn="ctr"/>
            <a:r>
              <a:rPr sz="3000" b="1" i="0">
                <a:solidFill>
                  <a:srgbClr val="4FC3F7"/>
                </a:solidFill>
                <a:latin typeface="Arial"/>
              </a:rPr>
              <a:t>22</a:t>
            </a:r>
          </a:p>
          <a:p>
            <a:pPr>
              <a:lnSpc>
                <a:spcPct val="100000"/>
              </a:lnSpc>
            </a:pPr>
            <a:r>
              <a:rPr sz="1100" b="0" i="0">
                <a:solidFill>
                  <a:srgbClr val="9AA4B2"/>
                </a:solidFill>
                <a:latin typeface="Arial"/>
              </a:rPr>
              <a:t>complete seasons</a:t>
            </a:r>
          </a:p>
        </p:txBody>
      </p:sp>
      <p:sp>
        <p:nvSpPr>
          <p:cNvPr id="8" name="Rounded Rectangle 7"/>
          <p:cNvSpPr/>
          <p:nvPr/>
        </p:nvSpPr>
        <p:spPr>
          <a:xfrm>
            <a:off x="9052560" y="4160520"/>
            <a:ext cx="2423160" cy="1143000"/>
          </a:xfrm>
          <a:prstGeom prst="roundRect">
            <a:avLst/>
          </a:prstGeom>
          <a:solidFill>
            <a:srgbClr val="161B22"/>
          </a:solidFill>
          <a:ln w="12700">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109728" bIns="91440"/>
          <a:lstStyle/>
          <a:p>
            <a:pPr algn="ctr"/>
            <a:r>
              <a:rPr sz="3000" b="1" i="0">
                <a:solidFill>
                  <a:srgbClr val="4FC3F7"/>
                </a:solidFill>
                <a:latin typeface="Arial"/>
              </a:rPr>
              <a:t>19</a:t>
            </a:r>
          </a:p>
          <a:p>
            <a:pPr>
              <a:lnSpc>
                <a:spcPct val="100000"/>
              </a:lnSpc>
            </a:pPr>
            <a:r>
              <a:rPr sz="1100" b="0" i="0">
                <a:solidFill>
                  <a:srgbClr val="9AA4B2"/>
                </a:solidFill>
                <a:latin typeface="Arial"/>
              </a:rPr>
              <a:t>modeled (3 pandemic held out)</a:t>
            </a:r>
          </a:p>
        </p:txBody>
      </p:sp>
      <p:sp>
        <p:nvSpPr>
          <p:cNvPr id="9" name="TextBox 8"/>
          <p:cNvSpPr txBox="1"/>
          <p:nvPr/>
        </p:nvSpPr>
        <p:spPr>
          <a:xfrm>
            <a:off x="685800" y="5989320"/>
            <a:ext cx="10820095" cy="640080"/>
          </a:xfrm>
          <a:prstGeom prst="rect">
            <a:avLst/>
          </a:prstGeom>
          <a:noFill/>
        </p:spPr>
        <p:txBody>
          <a:bodyPr wrap="square" anchor="t" lIns="0" rIns="0" tIns="0" bIns="0">
            <a:spAutoFit/>
          </a:bodyPr>
          <a:lstStyle/>
          <a:p>
            <a:pPr>
              <a:lnSpc>
                <a:spcPct val="110000"/>
              </a:lnSpc>
            </a:pPr>
            <a:r>
              <a:rPr sz="1050" b="0" i="0">
                <a:solidFill>
                  <a:srgbClr val="9AA4B2"/>
                </a:solidFill>
                <a:latin typeface="Arial"/>
              </a:rPr>
              <a:t>National scope. Pandemic / pandemic-adjacent seasons (2008-09, 2009-10, 2020-21) held out as labeled special cases. WHO FluNet excluded (2022+ only, redundant with NREVSS).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DATA-QUALITY FINDING</a:t>
            </a:r>
          </a:p>
        </p:txBody>
      </p:sp>
      <p:sp>
        <p:nvSpPr>
          <p:cNvPr id="4" name="TextBox 3"/>
          <p:cNvSpPr txBox="1"/>
          <p:nvPr/>
        </p:nvSpPr>
        <p:spPr>
          <a:xfrm>
            <a:off x="685800" y="868680"/>
            <a:ext cx="10820095" cy="1188720"/>
          </a:xfrm>
          <a:prstGeom prst="rect">
            <a:avLst/>
          </a:prstGeom>
          <a:noFill/>
        </p:spPr>
        <p:txBody>
          <a:bodyPr wrap="square" anchor="t" lIns="0" rIns="0" tIns="0" bIns="0">
            <a:spAutoFit/>
          </a:bodyPr>
          <a:lstStyle/>
          <a:p>
            <a:r>
              <a:rPr sz="3000" b="1" i="0">
                <a:solidFill>
                  <a:srgbClr val="FFFFFF"/>
                </a:solidFill>
                <a:latin typeface="Arial"/>
              </a:rPr>
              <a:t>A week-52 holiday reporting artifact moves the target</a:t>
            </a:r>
          </a:p>
        </p:txBody>
      </p:sp>
      <p:sp>
        <p:nvSpPr>
          <p:cNvPr id="5" name="TextBox 4"/>
          <p:cNvSpPr txBox="1"/>
          <p:nvPr/>
        </p:nvSpPr>
        <p:spPr>
          <a:xfrm>
            <a:off x="685800" y="2057400"/>
            <a:ext cx="5760720" cy="3108960"/>
          </a:xfrm>
          <a:prstGeom prst="rect">
            <a:avLst/>
          </a:prstGeom>
          <a:noFill/>
        </p:spPr>
        <p:txBody>
          <a:bodyPr wrap="square" anchor="t" lIns="0" rIns="0" tIns="0" bIns="0">
            <a:spAutoFit/>
          </a:bodyPr>
          <a:lstStyle/>
          <a:p>
            <a:pPr>
              <a:lnSpc>
                <a:spcPct val="115000"/>
              </a:lnSpc>
              <a:spcAft>
                <a:spcPts val="1200"/>
              </a:spcAft>
            </a:pPr>
            <a:r>
              <a:rPr sz="1300" b="1" i="0">
                <a:solidFill>
                  <a:srgbClr val="4FC3F7"/>
                </a:solidFill>
                <a:latin typeface="Arial"/>
              </a:rPr>
              <a:t>●  </a:t>
            </a:r>
            <a:r>
              <a:rPr sz="1600" b="0" i="0">
                <a:solidFill>
                  <a:srgbClr val="E6EAF0"/>
                </a:solidFill>
                <a:latin typeface="Arial"/>
              </a:rPr>
              <a:t>Year-end reporting inflates a single week-52 ILI point in several seasons.</a:t>
            </a:r>
          </a:p>
          <a:p>
            <a:pPr>
              <a:lnSpc>
                <a:spcPct val="115000"/>
              </a:lnSpc>
              <a:spcAft>
                <a:spcPts val="1200"/>
              </a:spcAft>
            </a:pPr>
            <a:r>
              <a:rPr sz="1300" b="1" i="0">
                <a:solidFill>
                  <a:srgbClr val="4FC3F7"/>
                </a:solidFill>
                <a:latin typeface="Arial"/>
              </a:rPr>
              <a:t>●  </a:t>
            </a:r>
            <a:r>
              <a:rPr sz="1600" b="0" i="0">
                <a:solidFill>
                  <a:srgbClr val="E6EAF0"/>
                </a:solidFill>
                <a:latin typeface="Arial"/>
              </a:rPr>
              <a:t>On the raw series this </a:t>
            </a:r>
            <a:r>
              <a:rPr sz="1600" b="1" i="0">
                <a:solidFill>
                  <a:srgbClr val="FFFFFF"/>
                </a:solidFill>
                <a:latin typeface="Arial"/>
              </a:rPr>
              <a:t>false spike becomes the labeled peak week</a:t>
            </a:r>
            <a:r>
              <a:rPr sz="1600" b="0" i="0">
                <a:solidFill>
                  <a:srgbClr val="E6EAF0"/>
                </a:solidFill>
                <a:latin typeface="Arial"/>
              </a:rPr>
              <a:t> in 5 of 22 seasons.</a:t>
            </a:r>
          </a:p>
          <a:p>
            <a:pPr>
              <a:lnSpc>
                <a:spcPct val="115000"/>
              </a:lnSpc>
              <a:spcAft>
                <a:spcPts val="1200"/>
              </a:spcAft>
            </a:pPr>
            <a:r>
              <a:rPr sz="1300" b="1" i="0">
                <a:solidFill>
                  <a:srgbClr val="4FC3F7"/>
                </a:solidFill>
                <a:latin typeface="Arial"/>
              </a:rPr>
              <a:t>●  </a:t>
            </a:r>
            <a:r>
              <a:rPr sz="1600" b="0" i="0">
                <a:solidFill>
                  <a:srgbClr val="E6EAF0"/>
                </a:solidFill>
                <a:latin typeface="Arial"/>
              </a:rPr>
              <a:t>Fix: define targets on a </a:t>
            </a:r>
            <a:r>
              <a:rPr sz="1600" b="1" i="0">
                <a:solidFill>
                  <a:srgbClr val="FFFFFF"/>
                </a:solidFill>
                <a:latin typeface="Arial"/>
              </a:rPr>
              <a:t>3-week centered smoother</a:t>
            </a:r>
            <a:r>
              <a:rPr sz="1600" b="0" i="0">
                <a:solidFill>
                  <a:srgbClr val="E6EAF0"/>
                </a:solidFill>
                <a:latin typeface="Arial"/>
              </a:rPr>
              <a:t>; keep raw values and audit flags alongside.</a:t>
            </a:r>
          </a:p>
          <a:p>
            <a:pPr>
              <a:lnSpc>
                <a:spcPct val="115000"/>
              </a:lnSpc>
              <a:spcAft>
                <a:spcPts val="1200"/>
              </a:spcAft>
            </a:pPr>
            <a:r>
              <a:rPr sz="1300" b="1" i="0">
                <a:solidFill>
                  <a:srgbClr val="4FC3F7"/>
                </a:solidFill>
                <a:latin typeface="Arial"/>
              </a:rPr>
              <a:t>●  </a:t>
            </a:r>
            <a:r>
              <a:rPr sz="1600" b="0" i="0">
                <a:solidFill>
                  <a:srgbClr val="E6EAF0"/>
                </a:solidFill>
                <a:latin typeface="Arial"/>
              </a:rPr>
              <a:t>Verified: no non-week-52 season shifts by more than 2 weeks, so the smoother corrects the artifact without inventing a new one.</a:t>
            </a:r>
          </a:p>
        </p:txBody>
      </p:sp>
      <p:sp>
        <p:nvSpPr>
          <p:cNvPr id="6" name="Rounded Rectangle 5"/>
          <p:cNvSpPr/>
          <p:nvPr/>
        </p:nvSpPr>
        <p:spPr>
          <a:xfrm>
            <a:off x="6720840" y="2011680"/>
            <a:ext cx="4754880" cy="1051560"/>
          </a:xfrm>
          <a:prstGeom prst="roundRect">
            <a:avLst/>
          </a:prstGeom>
          <a:solidFill>
            <a:srgbClr val="161B22"/>
          </a:solidFill>
          <a:ln w="12700">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109728" bIns="91440"/>
          <a:lstStyle/>
          <a:p>
            <a:pPr algn="ctr"/>
            <a:r>
              <a:rPr sz="3000" b="1" i="0">
                <a:solidFill>
                  <a:srgbClr val="FFB74D"/>
                </a:solidFill>
                <a:latin typeface="Arial"/>
              </a:rPr>
              <a:t>5</a:t>
            </a:r>
          </a:p>
          <a:p>
            <a:pPr>
              <a:lnSpc>
                <a:spcPct val="100000"/>
              </a:lnSpc>
            </a:pPr>
            <a:r>
              <a:rPr sz="1100" b="0" i="0">
                <a:solidFill>
                  <a:srgbClr val="9AA4B2"/>
                </a:solidFill>
                <a:latin typeface="Arial"/>
              </a:rPr>
              <a:t>seasons where the wk-52 artifact moved the peak label</a:t>
            </a:r>
          </a:p>
        </p:txBody>
      </p:sp>
      <p:sp>
        <p:nvSpPr>
          <p:cNvPr id="7" name="Rounded Rectangle 6"/>
          <p:cNvSpPr/>
          <p:nvPr/>
        </p:nvSpPr>
        <p:spPr>
          <a:xfrm>
            <a:off x="6720840" y="3246120"/>
            <a:ext cx="4754880" cy="960120"/>
          </a:xfrm>
          <a:prstGeom prst="roundRect">
            <a:avLst/>
          </a:prstGeom>
          <a:solidFill>
            <a:srgbClr val="161B22"/>
          </a:solidFill>
          <a:ln w="12700">
            <a:solidFill>
              <a:srgbClr val="2A303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109728" bIns="91440"/>
          <a:lstStyle/>
          <a:p>
            <a:pPr algn="ctr"/>
            <a:r>
              <a:rPr sz="3000" b="1" i="0">
                <a:solidFill>
                  <a:srgbClr val="4FC3F7"/>
                </a:solidFill>
                <a:latin typeface="Arial"/>
              </a:rPr>
              <a:t>3-wk</a:t>
            </a:r>
          </a:p>
          <a:p>
            <a:pPr>
              <a:lnSpc>
                <a:spcPct val="100000"/>
              </a:lnSpc>
            </a:pPr>
            <a:r>
              <a:rPr sz="1100" b="0" i="0">
                <a:solidFill>
                  <a:srgbClr val="9AA4B2"/>
                </a:solidFill>
                <a:latin typeface="Arial"/>
              </a:rPr>
              <a:t>centered smoother defines the target</a:t>
            </a:r>
          </a:p>
        </p:txBody>
      </p:sp>
      <p:sp>
        <p:nvSpPr>
          <p:cNvPr id="8" name="TextBox 7"/>
          <p:cNvSpPr txBox="1"/>
          <p:nvPr/>
        </p:nvSpPr>
        <p:spPr>
          <a:xfrm>
            <a:off x="6720840" y="4434840"/>
            <a:ext cx="4754880" cy="914400"/>
          </a:xfrm>
          <a:prstGeom prst="rect">
            <a:avLst/>
          </a:prstGeom>
          <a:noFill/>
        </p:spPr>
        <p:txBody>
          <a:bodyPr wrap="square" anchor="t" lIns="0" rIns="0" tIns="0" bIns="0">
            <a:spAutoFit/>
          </a:bodyPr>
          <a:lstStyle/>
          <a:p>
            <a:pPr>
              <a:lnSpc>
                <a:spcPct val="120000"/>
              </a:lnSpc>
            </a:pPr>
            <a:r>
              <a:rPr sz="1300" b="0" i="0">
                <a:solidFill>
                  <a:srgbClr val="9AA4B2"/>
                </a:solidFill>
                <a:latin typeface="Arial"/>
              </a:rPr>
              <a:t>A real contribution on its own: a documented data-quality trap that would silently corrupt peak-timing labels.</a:t>
            </a:r>
          </a:p>
        </p:txBody>
      </p:sp>
      <p:sp>
        <p:nvSpPr>
          <p:cNvPr id="9" name="TextBox 8"/>
          <p:cNvSpPr txBox="1"/>
          <p:nvPr/>
        </p:nvSpPr>
        <p:spPr>
          <a:xfrm>
            <a:off x="685800" y="5989320"/>
            <a:ext cx="10820095" cy="640080"/>
          </a:xfrm>
          <a:prstGeom prst="rect">
            <a:avLst/>
          </a:prstGeom>
          <a:noFill/>
        </p:spPr>
        <p:txBody>
          <a:bodyPr wrap="square" anchor="t" lIns="0" rIns="0" tIns="0" bIns="0">
            <a:spAutoFit/>
          </a:bodyPr>
          <a:lstStyle/>
          <a:p>
            <a:pPr>
              <a:lnSpc>
                <a:spcPct val="110000"/>
              </a:lnSpc>
            </a:pPr>
            <a:r>
              <a:rPr sz="1050" b="0" i="0">
                <a:solidFill>
                  <a:srgbClr val="9AA4B2"/>
                </a:solidFill>
                <a:latin typeface="Arial"/>
              </a:rPr>
              <a:t>Flags carried forward: holiday_shift (5), peak_week_smoothing_sensitive, fragile_peak_week (9). Targets are retrospective; features remain strictly through-W (leakage firewall).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BASELINES FIRST (THE FLOOR EVERY MODEL MUST BEAT)</a:t>
            </a:r>
          </a:p>
        </p:txBody>
      </p:sp>
      <p:sp>
        <p:nvSpPr>
          <p:cNvPr id="4" name="TextBox 3"/>
          <p:cNvSpPr txBox="1"/>
          <p:nvPr/>
        </p:nvSpPr>
        <p:spPr>
          <a:xfrm>
            <a:off x="685800" y="868680"/>
            <a:ext cx="10820095" cy="1188720"/>
          </a:xfrm>
          <a:prstGeom prst="rect">
            <a:avLst/>
          </a:prstGeom>
          <a:noFill/>
        </p:spPr>
        <p:txBody>
          <a:bodyPr wrap="square" anchor="t" lIns="0" rIns="0" tIns="0" bIns="0">
            <a:spAutoFit/>
          </a:bodyPr>
          <a:lstStyle/>
          <a:p>
            <a:r>
              <a:rPr sz="3000" b="1" i="0">
                <a:solidFill>
                  <a:srgbClr val="FFFFFF"/>
                </a:solidFill>
                <a:latin typeface="Arial"/>
              </a:rPr>
              <a:t>Timing is near the noise floor; severity is tractable</a:t>
            </a:r>
          </a:p>
        </p:txBody>
      </p:sp>
      <p:graphicFrame>
        <p:nvGraphicFramePr>
          <p:cNvPr id="5" name="Table 4"/>
          <p:cNvGraphicFramePr>
            <a:graphicFrameLocks noGrp="1"/>
          </p:cNvGraphicFramePr>
          <p:nvPr/>
        </p:nvGraphicFramePr>
        <p:xfrm>
          <a:off x="685800" y="2011680"/>
          <a:ext cx="5212080" cy="1243584"/>
        </p:xfrm>
        <a:graphic>
          <a:graphicData uri="http://schemas.openxmlformats.org/drawingml/2006/table">
            <a:tbl>
              <a:tblPr>
                <a:tableStyleId>{5C22544A-7EE6-4342-B048-85BDC9FD1C3A}</a:tableStyleId>
              </a:tblPr>
              <a:tblGrid>
                <a:gridCol w="1737360"/>
                <a:gridCol w="1737360"/>
                <a:gridCol w="1737360"/>
              </a:tblGrid>
              <a:tr h="310896">
                <a:tc>
                  <a:txBody>
                    <a:bodyPr/>
                    <a:lstStyle/>
                    <a:p>
                      <a:pPr algn="l"/>
                      <a:r>
                        <a:rPr sz="1300" b="1" i="0">
                          <a:solidFill>
                            <a:srgbClr val="9AA4B2"/>
                          </a:solidFill>
                          <a:latin typeface="Arial"/>
                        </a:rPr>
                        <a:t>Baseline (LOSO, 19 seasons)</a:t>
                      </a:r>
                    </a:p>
                  </a:txBody>
                  <a:tcPr marL="91440" marR="91440" marT="36576" marB="36576" anchor="ctr">
                    <a:solidFill>
                      <a:srgbClr val="161B22"/>
                    </a:solidFill>
                  </a:tcPr>
                </a:tc>
                <a:tc>
                  <a:txBody>
                    <a:bodyPr/>
                    <a:lstStyle/>
                    <a:p>
                      <a:pPr algn="r"/>
                      <a:r>
                        <a:rPr sz="1300" b="1" i="0">
                          <a:solidFill>
                            <a:srgbClr val="9AA4B2"/>
                          </a:solidFill>
                          <a:latin typeface="Arial"/>
                        </a:rPr>
                        <a:t>pk-wk MAE</a:t>
                      </a:r>
                    </a:p>
                  </a:txBody>
                  <a:tcPr marL="91440" marR="91440" marT="36576" marB="36576" anchor="ctr">
                    <a:solidFill>
                      <a:srgbClr val="161B22"/>
                    </a:solidFill>
                  </a:tcPr>
                </a:tc>
                <a:tc>
                  <a:txBody>
                    <a:bodyPr/>
                    <a:lstStyle/>
                    <a:p>
                      <a:pPr algn="r"/>
                      <a:r>
                        <a:rPr sz="1300" b="1" i="0">
                          <a:solidFill>
                            <a:srgbClr val="9AA4B2"/>
                          </a:solidFill>
                          <a:latin typeface="Arial"/>
                        </a:rPr>
                        <a:t>within ±1</a:t>
                      </a:r>
                    </a:p>
                  </a:txBody>
                  <a:tcPr marL="91440" marR="91440" marT="36576" marB="36576" anchor="ctr">
                    <a:solidFill>
                      <a:srgbClr val="161B22"/>
                    </a:solidFill>
                  </a:tcPr>
                </a:tc>
              </a:tr>
              <a:tr h="310896">
                <a:tc>
                  <a:txBody>
                    <a:bodyPr/>
                    <a:lstStyle/>
                    <a:p>
                      <a:pPr algn="l"/>
                      <a:r>
                        <a:rPr sz="1300" b="0" i="0">
                          <a:solidFill>
                            <a:srgbClr val="9AA4B2"/>
                          </a:solidFill>
                          <a:latin typeface="Arial"/>
                        </a:rPr>
                        <a:t>Climatology</a:t>
                      </a:r>
                    </a:p>
                  </a:txBody>
                  <a:tcPr marL="91440" marR="91440" marT="36576" marB="36576" anchor="ctr">
                    <a:solidFill>
                      <a:srgbClr val="161B22"/>
                    </a:solidFill>
                  </a:tcPr>
                </a:tc>
                <a:tc>
                  <a:txBody>
                    <a:bodyPr/>
                    <a:lstStyle/>
                    <a:p>
                      <a:pPr algn="r"/>
                      <a:r>
                        <a:rPr sz="1300" b="0" i="0">
                          <a:solidFill>
                            <a:srgbClr val="E6EAF0"/>
                          </a:solidFill>
                          <a:latin typeface="Arial"/>
                        </a:rPr>
                        <a:t>3.68 wk</a:t>
                      </a:r>
                    </a:p>
                  </a:txBody>
                  <a:tcPr marL="91440" marR="91440" marT="36576" marB="36576" anchor="ctr">
                    <a:solidFill>
                      <a:srgbClr val="161B22"/>
                    </a:solidFill>
                  </a:tcPr>
                </a:tc>
                <a:tc>
                  <a:txBody>
                    <a:bodyPr/>
                    <a:lstStyle/>
                    <a:p>
                      <a:pPr algn="r"/>
                      <a:r>
                        <a:rPr sz="1300" b="0" i="0">
                          <a:solidFill>
                            <a:srgbClr val="E6EAF0"/>
                          </a:solidFill>
                          <a:latin typeface="Arial"/>
                        </a:rPr>
                        <a:t>26%</a:t>
                      </a:r>
                    </a:p>
                  </a:txBody>
                  <a:tcPr marL="91440" marR="91440" marT="36576" marB="36576" anchor="ctr">
                    <a:solidFill>
                      <a:srgbClr val="161B22"/>
                    </a:solidFill>
                  </a:tcPr>
                </a:tc>
              </a:tr>
              <a:tr h="310896">
                <a:tc>
                  <a:txBody>
                    <a:bodyPr/>
                    <a:lstStyle/>
                    <a:p>
                      <a:pPr algn="l"/>
                      <a:r>
                        <a:rPr sz="1300" b="0" i="0">
                          <a:solidFill>
                            <a:srgbClr val="9AA4B2"/>
                          </a:solidFill>
                          <a:latin typeface="Arial"/>
                        </a:rPr>
                        <a:t>Persistence</a:t>
                      </a:r>
                    </a:p>
                  </a:txBody>
                  <a:tcPr marL="91440" marR="91440" marT="36576" marB="36576" anchor="ctr">
                    <a:solidFill>
                      <a:srgbClr val="161B22"/>
                    </a:solidFill>
                  </a:tcPr>
                </a:tc>
                <a:tc>
                  <a:txBody>
                    <a:bodyPr/>
                    <a:lstStyle/>
                    <a:p>
                      <a:pPr algn="r"/>
                      <a:r>
                        <a:rPr sz="1300" b="0" i="0">
                          <a:solidFill>
                            <a:srgbClr val="E6EAF0"/>
                          </a:solidFill>
                          <a:latin typeface="Arial"/>
                        </a:rPr>
                        <a:t>3.31 wk</a:t>
                      </a:r>
                    </a:p>
                  </a:txBody>
                  <a:tcPr marL="91440" marR="91440" marT="36576" marB="36576" anchor="ctr">
                    <a:solidFill>
                      <a:srgbClr val="161B22"/>
                    </a:solidFill>
                  </a:tcPr>
                </a:tc>
                <a:tc>
                  <a:txBody>
                    <a:bodyPr/>
                    <a:lstStyle/>
                    <a:p>
                      <a:pPr algn="r"/>
                      <a:r>
                        <a:rPr sz="1300" b="0" i="0">
                          <a:solidFill>
                            <a:srgbClr val="E6EAF0"/>
                          </a:solidFill>
                          <a:latin typeface="Arial"/>
                        </a:rPr>
                        <a:t>31%</a:t>
                      </a:r>
                    </a:p>
                  </a:txBody>
                  <a:tcPr marL="91440" marR="91440" marT="36576" marB="36576" anchor="ctr">
                    <a:solidFill>
                      <a:srgbClr val="161B22"/>
                    </a:solidFill>
                  </a:tcPr>
                </a:tc>
              </a:tr>
              <a:tr h="310896">
                <a:tc>
                  <a:txBody>
                    <a:bodyPr/>
                    <a:lstStyle/>
                    <a:p>
                      <a:pPr algn="l"/>
                      <a:r>
                        <a:rPr sz="1300" b="0" i="0">
                          <a:solidFill>
                            <a:srgbClr val="9AA4B2"/>
                          </a:solidFill>
                          <a:latin typeface="Arial"/>
                        </a:rPr>
                        <a:t>Running max (W=16)</a:t>
                      </a:r>
                    </a:p>
                  </a:txBody>
                  <a:tcPr marL="91440" marR="91440" marT="36576" marB="36576" anchor="ctr">
                    <a:solidFill>
                      <a:srgbClr val="161B22"/>
                    </a:solidFill>
                  </a:tcPr>
                </a:tc>
                <a:tc>
                  <a:txBody>
                    <a:bodyPr/>
                    <a:lstStyle/>
                    <a:p>
                      <a:pPr algn="r"/>
                      <a:r>
                        <a:rPr sz="1300" b="0" i="0">
                          <a:solidFill>
                            <a:srgbClr val="E6EAF0"/>
                          </a:solidFill>
                          <a:latin typeface="Arial"/>
                        </a:rPr>
                        <a:t>3.79 wk</a:t>
                      </a:r>
                    </a:p>
                  </a:txBody>
                  <a:tcPr marL="91440" marR="91440" marT="36576" marB="36576" anchor="ctr">
                    <a:solidFill>
                      <a:srgbClr val="161B22"/>
                    </a:solidFill>
                  </a:tcPr>
                </a:tc>
                <a:tc>
                  <a:txBody>
                    <a:bodyPr/>
                    <a:lstStyle/>
                    <a:p>
                      <a:pPr algn="r"/>
                      <a:r>
                        <a:rPr sz="1300" b="0" i="0">
                          <a:solidFill>
                            <a:srgbClr val="E6EAF0"/>
                          </a:solidFill>
                          <a:latin typeface="Arial"/>
                        </a:rPr>
                        <a:t>37%</a:t>
                      </a:r>
                    </a:p>
                  </a:txBody>
                  <a:tcPr marL="91440" marR="91440" marT="36576" marB="36576" anchor="ctr">
                    <a:solidFill>
                      <a:srgbClr val="161B22"/>
                    </a:solidFill>
                  </a:tcPr>
                </a:tc>
              </a:tr>
            </a:tbl>
          </a:graphicData>
        </a:graphic>
      </p:graphicFrame>
      <p:sp>
        <p:nvSpPr>
          <p:cNvPr id="6" name="TextBox 5"/>
          <p:cNvSpPr txBox="1"/>
          <p:nvPr/>
        </p:nvSpPr>
        <p:spPr>
          <a:xfrm>
            <a:off x="685800" y="3611880"/>
            <a:ext cx="5120640" cy="914400"/>
          </a:xfrm>
          <a:prstGeom prst="rect">
            <a:avLst/>
          </a:prstGeom>
          <a:noFill/>
        </p:spPr>
        <p:txBody>
          <a:bodyPr wrap="square" anchor="t" lIns="0" rIns="0" tIns="0" bIns="0">
            <a:spAutoFit/>
          </a:bodyPr>
          <a:lstStyle/>
          <a:p>
            <a:pPr>
              <a:lnSpc>
                <a:spcPct val="120000"/>
              </a:lnSpc>
            </a:pPr>
            <a:r>
              <a:rPr sz="1250" b="0" i="0">
                <a:solidFill>
                  <a:srgbClr val="9AA4B2"/>
                </a:solidFill>
                <a:latin typeface="Arial"/>
              </a:rPr>
              <a:t>No naive rule puts more than ~37% of seasons within a week. Timing is intrinsically hard here.</a:t>
            </a:r>
          </a:p>
        </p:txBody>
      </p:sp>
      <p:graphicFrame>
        <p:nvGraphicFramePr>
          <p:cNvPr id="7" name="Table 6"/>
          <p:cNvGraphicFramePr>
            <a:graphicFrameLocks noGrp="1"/>
          </p:cNvGraphicFramePr>
          <p:nvPr/>
        </p:nvGraphicFramePr>
        <p:xfrm>
          <a:off x="6492240" y="2011680"/>
          <a:ext cx="4983480" cy="1243584"/>
        </p:xfrm>
        <a:graphic>
          <a:graphicData uri="http://schemas.openxmlformats.org/drawingml/2006/table">
            <a:tbl>
              <a:tblPr>
                <a:tableStyleId>{5C22544A-7EE6-4342-B048-85BDC9FD1C3A}</a:tableStyleId>
              </a:tblPr>
              <a:tblGrid>
                <a:gridCol w="2491740"/>
                <a:gridCol w="2491740"/>
              </a:tblGrid>
              <a:tr h="310896">
                <a:tc>
                  <a:txBody>
                    <a:bodyPr/>
                    <a:lstStyle/>
                    <a:p>
                      <a:pPr algn="l"/>
                      <a:r>
                        <a:rPr sz="1300" b="1" i="0">
                          <a:solidFill>
                            <a:srgbClr val="9AA4B2"/>
                          </a:solidFill>
                          <a:latin typeface="Arial"/>
                        </a:rPr>
                        <a:t>Severity floor</a:t>
                      </a:r>
                    </a:p>
                  </a:txBody>
                  <a:tcPr marL="91440" marR="91440" marT="36576" marB="36576" anchor="ctr">
                    <a:solidFill>
                      <a:srgbClr val="161B22"/>
                    </a:solidFill>
                  </a:tcPr>
                </a:tc>
                <a:tc>
                  <a:txBody>
                    <a:bodyPr/>
                    <a:lstStyle/>
                    <a:p>
                      <a:pPr algn="r"/>
                      <a:r>
                        <a:rPr sz="1300" b="1" i="0">
                          <a:solidFill>
                            <a:srgbClr val="9AA4B2"/>
                          </a:solidFill>
                          <a:latin typeface="Arial"/>
                        </a:rPr>
                        <a:t>MAE (% WEIGHTED ILI)</a:t>
                      </a:r>
                    </a:p>
                  </a:txBody>
                  <a:tcPr marL="91440" marR="91440" marT="36576" marB="36576" anchor="ctr">
                    <a:solidFill>
                      <a:srgbClr val="161B22"/>
                    </a:solidFill>
                  </a:tcPr>
                </a:tc>
              </a:tr>
              <a:tr h="310896">
                <a:tc>
                  <a:txBody>
                    <a:bodyPr/>
                    <a:lstStyle/>
                    <a:p>
                      <a:pPr algn="l"/>
                      <a:r>
                        <a:rPr sz="1300" b="0" i="0">
                          <a:solidFill>
                            <a:srgbClr val="9AA4B2"/>
                          </a:solidFill>
                          <a:latin typeface="Arial"/>
                        </a:rPr>
                        <a:t>Climatology</a:t>
                      </a:r>
                    </a:p>
                  </a:txBody>
                  <a:tcPr marL="91440" marR="91440" marT="36576" marB="36576" anchor="ctr">
                    <a:solidFill>
                      <a:srgbClr val="161B22"/>
                    </a:solidFill>
                  </a:tcPr>
                </a:tc>
                <a:tc>
                  <a:txBody>
                    <a:bodyPr/>
                    <a:lstStyle/>
                    <a:p>
                      <a:pPr algn="r"/>
                      <a:r>
                        <a:rPr sz="1300" b="0" i="0">
                          <a:solidFill>
                            <a:srgbClr val="E6EAF0"/>
                          </a:solidFill>
                          <a:latin typeface="Arial"/>
                        </a:rPr>
                        <a:t>1.34</a:t>
                      </a:r>
                    </a:p>
                  </a:txBody>
                  <a:tcPr marL="91440" marR="91440" marT="36576" marB="36576" anchor="ctr">
                    <a:solidFill>
                      <a:srgbClr val="161B22"/>
                    </a:solidFill>
                  </a:tcPr>
                </a:tc>
              </a:tr>
              <a:tr h="310896">
                <a:tc>
                  <a:txBody>
                    <a:bodyPr/>
                    <a:lstStyle/>
                    <a:p>
                      <a:pPr algn="l"/>
                      <a:r>
                        <a:rPr sz="1300" b="0" i="0">
                          <a:solidFill>
                            <a:srgbClr val="9AA4B2"/>
                          </a:solidFill>
                          <a:latin typeface="Arial"/>
                        </a:rPr>
                        <a:t>Running max, W=12</a:t>
                      </a:r>
                    </a:p>
                  </a:txBody>
                  <a:tcPr marL="91440" marR="91440" marT="36576" marB="36576" anchor="ctr">
                    <a:solidFill>
                      <a:srgbClr val="161B22"/>
                    </a:solidFill>
                  </a:tcPr>
                </a:tc>
                <a:tc>
                  <a:txBody>
                    <a:bodyPr/>
                    <a:lstStyle/>
                    <a:p>
                      <a:pPr algn="r"/>
                      <a:r>
                        <a:rPr sz="1300" b="0" i="0">
                          <a:solidFill>
                            <a:srgbClr val="E6EAF0"/>
                          </a:solidFill>
                          <a:latin typeface="Arial"/>
                        </a:rPr>
                        <a:t>1.24</a:t>
                      </a:r>
                    </a:p>
                  </a:txBody>
                  <a:tcPr marL="91440" marR="91440" marT="36576" marB="36576" anchor="ctr">
                    <a:solidFill>
                      <a:srgbClr val="161B22"/>
                    </a:solidFill>
                  </a:tcPr>
                </a:tc>
              </a:tr>
              <a:tr h="310896">
                <a:tc>
                  <a:txBody>
                    <a:bodyPr/>
                    <a:lstStyle/>
                    <a:p>
                      <a:pPr algn="l"/>
                      <a:r>
                        <a:rPr sz="1300" b="0" i="0">
                          <a:solidFill>
                            <a:srgbClr val="9AA4B2"/>
                          </a:solidFill>
                          <a:latin typeface="Arial"/>
                        </a:rPr>
                        <a:t>Running max, W=16</a:t>
                      </a:r>
                    </a:p>
                  </a:txBody>
                  <a:tcPr marL="91440" marR="91440" marT="36576" marB="36576" anchor="ctr">
                    <a:solidFill>
                      <a:srgbClr val="161B22"/>
                    </a:solidFill>
                  </a:tcPr>
                </a:tc>
                <a:tc>
                  <a:txBody>
                    <a:bodyPr/>
                    <a:lstStyle/>
                    <a:p>
                      <a:pPr algn="r"/>
                      <a:r>
                        <a:rPr sz="1300" b="1" i="0">
                          <a:solidFill>
                            <a:srgbClr val="66BB6A"/>
                          </a:solidFill>
                          <a:latin typeface="Arial"/>
                        </a:rPr>
                        <a:t>0.84</a:t>
                      </a:r>
                    </a:p>
                  </a:txBody>
                  <a:tcPr marL="91440" marR="91440" marT="36576" marB="36576" anchor="ctr">
                    <a:solidFill>
                      <a:srgbClr val="161B22"/>
                    </a:solidFill>
                  </a:tcPr>
                </a:tc>
              </a:tr>
            </a:tbl>
          </a:graphicData>
        </a:graphic>
      </p:graphicFrame>
      <p:sp>
        <p:nvSpPr>
          <p:cNvPr id="8" name="TextBox 7"/>
          <p:cNvSpPr txBox="1"/>
          <p:nvPr/>
        </p:nvSpPr>
        <p:spPr>
          <a:xfrm>
            <a:off x="6492240" y="3611880"/>
            <a:ext cx="4937760" cy="914400"/>
          </a:xfrm>
          <a:prstGeom prst="rect">
            <a:avLst/>
          </a:prstGeom>
          <a:noFill/>
        </p:spPr>
        <p:txBody>
          <a:bodyPr wrap="square" anchor="t" lIns="0" rIns="0" tIns="0" bIns="0">
            <a:spAutoFit/>
          </a:bodyPr>
          <a:lstStyle/>
          <a:p>
            <a:pPr>
              <a:lnSpc>
                <a:spcPct val="120000"/>
              </a:lnSpc>
            </a:pPr>
            <a:r>
              <a:rPr sz="1250" b="0" i="0">
                <a:solidFill>
                  <a:srgbClr val="9AA4B2"/>
                </a:solidFill>
                <a:latin typeface="Arial"/>
              </a:rPr>
              <a:t>Severity sharpens as the season is observed. This is the target worth chasing.</a:t>
            </a:r>
          </a:p>
        </p:txBody>
      </p:sp>
      <p:sp>
        <p:nvSpPr>
          <p:cNvPr id="9" name="TextBox 8"/>
          <p:cNvSpPr txBox="1"/>
          <p:nvPr/>
        </p:nvSpPr>
        <p:spPr>
          <a:xfrm>
            <a:off x="685800" y="5989320"/>
            <a:ext cx="10820095" cy="640080"/>
          </a:xfrm>
          <a:prstGeom prst="rect">
            <a:avLst/>
          </a:prstGeom>
          <a:noFill/>
        </p:spPr>
        <p:txBody>
          <a:bodyPr wrap="square" anchor="t" lIns="0" rIns="0" tIns="0" bIns="0">
            <a:spAutoFit/>
          </a:bodyPr>
          <a:lstStyle/>
          <a:p>
            <a:pPr>
              <a:lnSpc>
                <a:spcPct val="110000"/>
              </a:lnSpc>
            </a:pPr>
            <a:r>
              <a:rPr sz="1050" b="0" i="0">
                <a:solidFill>
                  <a:srgbClr val="9AA4B2"/>
                </a:solidFill>
                <a:latin typeface="Arial"/>
              </a:rPr>
              <a:t>Comparisons are lead-time-matched: a model at W is judged only against the within-season floor at the same 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MODEL COMPARISON  ·  TIMING</a:t>
            </a:r>
          </a:p>
        </p:txBody>
      </p:sp>
      <p:sp>
        <p:nvSpPr>
          <p:cNvPr id="4" name="TextBox 3"/>
          <p:cNvSpPr txBox="1"/>
          <p:nvPr/>
        </p:nvSpPr>
        <p:spPr>
          <a:xfrm>
            <a:off x="685800" y="868680"/>
            <a:ext cx="10820095" cy="1188720"/>
          </a:xfrm>
          <a:prstGeom prst="rect">
            <a:avLst/>
          </a:prstGeom>
          <a:noFill/>
        </p:spPr>
        <p:txBody>
          <a:bodyPr wrap="square" anchor="t" lIns="0" rIns="0" tIns="0" bIns="0">
            <a:spAutoFit/>
          </a:bodyPr>
          <a:lstStyle/>
          <a:p>
            <a:r>
              <a:rPr sz="3000" b="1" i="0">
                <a:solidFill>
                  <a:srgbClr val="FFFFFF"/>
                </a:solidFill>
                <a:latin typeface="Arial"/>
              </a:rPr>
              <a:t>No model beats the timing floor</a:t>
            </a:r>
          </a:p>
        </p:txBody>
      </p:sp>
      <p:sp>
        <p:nvSpPr>
          <p:cNvPr id="5" name="TextBox 4"/>
          <p:cNvSpPr txBox="1"/>
          <p:nvPr/>
        </p:nvSpPr>
        <p:spPr>
          <a:xfrm>
            <a:off x="685800" y="1874519"/>
            <a:ext cx="10789920" cy="4023360"/>
          </a:xfrm>
          <a:prstGeom prst="rect">
            <a:avLst/>
          </a:prstGeom>
          <a:noFill/>
        </p:spPr>
        <p:txBody>
          <a:bodyPr wrap="square" anchor="t" lIns="0" rIns="0" tIns="0" bIns="0">
            <a:spAutoFit/>
          </a:bodyPr>
          <a:lstStyle/>
          <a:p>
            <a:pPr>
              <a:lnSpc>
                <a:spcPct val="115000"/>
              </a:lnSpc>
              <a:spcAft>
                <a:spcPts val="900"/>
              </a:spcAft>
            </a:pPr>
            <a:r>
              <a:rPr sz="1200" b="1" i="0">
                <a:solidFill>
                  <a:srgbClr val="EF5350"/>
                </a:solidFill>
                <a:latin typeface="Arial"/>
              </a:rPr>
              <a:t>●  </a:t>
            </a:r>
            <a:r>
              <a:rPr sz="1500" b="1" i="0">
                <a:solidFill>
                  <a:srgbClr val="FFFFFF"/>
                </a:solidFill>
                <a:latin typeface="Arial"/>
              </a:rPr>
              <a:t>Prophet</a:t>
            </a:r>
            <a:r>
              <a:rPr sz="1500" b="0" i="0">
                <a:solidFill>
                  <a:srgbClr val="E6EAF0"/>
                </a:solidFill>
                <a:latin typeface="Arial"/>
              </a:rPr>
              <a:t>: logistic trend rises monotonically to the horizon, so the predicted peak lands at the season end. 0% within ±1 at every W.</a:t>
            </a:r>
          </a:p>
          <a:p>
            <a:pPr>
              <a:lnSpc>
                <a:spcPct val="115000"/>
              </a:lnSpc>
              <a:spcAft>
                <a:spcPts val="900"/>
              </a:spcAft>
            </a:pPr>
            <a:r>
              <a:rPr sz="1200" b="1" i="0">
                <a:solidFill>
                  <a:srgbClr val="EF5350"/>
                </a:solidFill>
                <a:latin typeface="Arial"/>
              </a:rPr>
              <a:t>●  </a:t>
            </a:r>
            <a:r>
              <a:rPr sz="1500" b="1" i="0">
                <a:solidFill>
                  <a:srgbClr val="FFFFFF"/>
                </a:solidFill>
                <a:latin typeface="Arial"/>
              </a:rPr>
              <a:t>ARIMA</a:t>
            </a:r>
            <a:r>
              <a:rPr sz="1500" b="0" i="0">
                <a:solidFill>
                  <a:srgbClr val="E6EAF0"/>
                </a:solidFill>
                <a:latin typeface="Arial"/>
              </a:rPr>
              <a:t>: blows up in log space and clips flat to the historical-max cap, producing no locatable peak week in 10/13/5 of the 19/17/12 forecasts (W=8/12/16).</a:t>
            </a:r>
          </a:p>
          <a:p>
            <a:pPr>
              <a:lnSpc>
                <a:spcPct val="115000"/>
              </a:lnSpc>
              <a:spcAft>
                <a:spcPts val="900"/>
              </a:spcAft>
            </a:pPr>
            <a:r>
              <a:rPr sz="1200" b="1" i="0">
                <a:solidFill>
                  <a:srgbClr val="EF5350"/>
                </a:solidFill>
                <a:latin typeface="Arial"/>
              </a:rPr>
              <a:t>●  </a:t>
            </a:r>
            <a:r>
              <a:rPr sz="1500" b="1" i="0">
                <a:solidFill>
                  <a:srgbClr val="FFFFFF"/>
                </a:solidFill>
                <a:latin typeface="Arial"/>
              </a:rPr>
              <a:t>Gaussian curve</a:t>
            </a:r>
            <a:r>
              <a:rPr sz="1500" b="0" i="0">
                <a:solidFill>
                  <a:srgbClr val="E6EAF0"/>
                </a:solidFill>
                <a:latin typeface="Arial"/>
              </a:rPr>
              <a:t>: yields a well-defined peak week in only 5 / 1 / 0 forecast seasons at W=8 / 12 / 16.</a:t>
            </a:r>
          </a:p>
          <a:p>
            <a:pPr>
              <a:lnSpc>
                <a:spcPct val="115000"/>
              </a:lnSpc>
              <a:spcAft>
                <a:spcPts val="900"/>
              </a:spcAft>
            </a:pPr>
            <a:r>
              <a:rPr sz="1200" b="1" i="0">
                <a:solidFill>
                  <a:srgbClr val="FFB74D"/>
                </a:solidFill>
                <a:latin typeface="Arial"/>
              </a:rPr>
              <a:t>●  </a:t>
            </a:r>
            <a:r>
              <a:rPr sz="1500" b="1" i="0">
                <a:solidFill>
                  <a:srgbClr val="FFFFFF"/>
                </a:solidFill>
                <a:latin typeface="Arial"/>
              </a:rPr>
              <a:t>The one apparent exception, stated plainly. </a:t>
            </a:r>
            <a:r>
              <a:rPr sz="1500" b="0" i="0">
                <a:solidFill>
                  <a:srgbClr val="E6EAF0"/>
                </a:solidFill>
                <a:latin typeface="Arial"/>
              </a:rPr>
              <a:t>On the 7 of 12 seasons where ARIMA does locate a peak at W=16, its MAE is 3.00 wk against 6.00 for the running-max floor. But those 7 are selected by the model's own success: the 5 it drops are the severe seasons (mean peak ILI 5.75 vs 4.29 for the 7 it keeps). Against LOSO climatology on the same 7 seasons (3.29 wk) the edge is 0.29 wk at n=7, and only 1 of 7 lands within ±1.</a:t>
            </a:r>
          </a:p>
          <a:p>
            <a:pPr>
              <a:lnSpc>
                <a:spcPct val="115000"/>
              </a:lnSpc>
              <a:spcAft>
                <a:spcPts val="900"/>
              </a:spcAft>
            </a:pPr>
            <a:r>
              <a:rPr sz="1200" b="1" i="0">
                <a:solidFill>
                  <a:srgbClr val="FFB74D"/>
                </a:solidFill>
                <a:latin typeface="Arial"/>
              </a:rPr>
              <a:t>●  </a:t>
            </a:r>
            <a:r>
              <a:rPr sz="1500" b="0" i="0">
                <a:solidFill>
                  <a:srgbClr val="E6EAF0"/>
                </a:solidFill>
                <a:latin typeface="Arial"/>
              </a:rPr>
              <a:t>Root cause is not the model class: at realistic lead times the peak has not happened yet, so nothing in the data locates it.</a:t>
            </a:r>
          </a:p>
        </p:txBody>
      </p:sp>
      <p:sp>
        <p:nvSpPr>
          <p:cNvPr id="6" name="TextBox 5"/>
          <p:cNvSpPr txBox="1"/>
          <p:nvPr/>
        </p:nvSpPr>
        <p:spPr>
          <a:xfrm>
            <a:off x="685800" y="5989320"/>
            <a:ext cx="10820095" cy="640080"/>
          </a:xfrm>
          <a:prstGeom prst="rect">
            <a:avLst/>
          </a:prstGeom>
          <a:noFill/>
        </p:spPr>
        <p:txBody>
          <a:bodyPr wrap="square" anchor="t" lIns="0" rIns="0" tIns="0" bIns="0">
            <a:spAutoFit/>
          </a:bodyPr>
          <a:lstStyle/>
          <a:p>
            <a:pPr>
              <a:lnSpc>
                <a:spcPct val="110000"/>
              </a:lnSpc>
            </a:pPr>
            <a:r>
              <a:rPr sz="1050" b="0" i="0">
                <a:solidFill>
                  <a:srgbClr val="9AA4B2"/>
                </a:solidFill>
                <a:latin typeface="Arial"/>
              </a:rPr>
              <a:t>Firewall audited: no post-W data enters any fit; predicted peaks are read only from the forecast region (sw &gt; W). No leak flagged. Timing metrics use non-plateau forecasts only; the selection effect is quantified in results/05_survivorship.md.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MODEL COMPARISON  ·  SEVERITY</a:t>
            </a:r>
          </a:p>
        </p:txBody>
      </p:sp>
      <p:sp>
        <p:nvSpPr>
          <p:cNvPr id="4" name="TextBox 3"/>
          <p:cNvSpPr txBox="1"/>
          <p:nvPr/>
        </p:nvSpPr>
        <p:spPr>
          <a:xfrm>
            <a:off x="685800" y="868680"/>
            <a:ext cx="10820095" cy="1188720"/>
          </a:xfrm>
          <a:prstGeom prst="rect">
            <a:avLst/>
          </a:prstGeom>
          <a:noFill/>
        </p:spPr>
        <p:txBody>
          <a:bodyPr wrap="square" anchor="t" lIns="0" rIns="0" tIns="0" bIns="0">
            <a:spAutoFit/>
          </a:bodyPr>
          <a:lstStyle/>
          <a:p>
            <a:r>
              <a:rPr sz="3000" b="1" i="0">
                <a:solidFill>
                  <a:srgbClr val="FFFFFF"/>
                </a:solidFill>
                <a:latin typeface="Arial"/>
              </a:rPr>
              <a:t>A simple regression is the first model to beat a floor</a:t>
            </a:r>
          </a:p>
        </p:txBody>
      </p:sp>
      <p:graphicFrame>
        <p:nvGraphicFramePr>
          <p:cNvPr id="5" name="Chart 4"/>
          <p:cNvGraphicFramePr>
            <a:graphicFrameLocks noGrp="1"/>
          </p:cNvGraphicFramePr>
          <p:nvPr/>
        </p:nvGraphicFramePr>
        <p:xfrm>
          <a:off x="685800" y="1965960"/>
          <a:ext cx="5394960" cy="3794760"/>
        </p:xfrm>
        <a:graphic>
          <a:graphicData uri="http://schemas.openxmlformats.org/drawingml/2006/chart">
            <c:chart xmlns:c="http://schemas.openxmlformats.org/drawingml/2006/chart" r:id="rId2"/>
          </a:graphicData>
        </a:graphic>
      </p:graphicFrame>
      <p:sp>
        <p:nvSpPr>
          <p:cNvPr id="6" name="TextBox 5"/>
          <p:cNvSpPr txBox="1"/>
          <p:nvPr/>
        </p:nvSpPr>
        <p:spPr>
          <a:xfrm>
            <a:off x="6446520" y="1965960"/>
            <a:ext cx="5029200" cy="3840480"/>
          </a:xfrm>
          <a:prstGeom prst="rect">
            <a:avLst/>
          </a:prstGeom>
          <a:noFill/>
        </p:spPr>
        <p:txBody>
          <a:bodyPr wrap="square" anchor="t" lIns="0" rIns="0" tIns="0" bIns="0">
            <a:spAutoFit/>
          </a:bodyPr>
          <a:lstStyle/>
          <a:p>
            <a:pPr>
              <a:lnSpc>
                <a:spcPct val="115000"/>
              </a:lnSpc>
              <a:spcAft>
                <a:spcPts val="1000"/>
              </a:spcAft>
            </a:pPr>
            <a:r>
              <a:rPr sz="1100" b="1" i="0">
                <a:solidFill>
                  <a:srgbClr val="66BB6A"/>
                </a:solidFill>
                <a:latin typeface="Arial"/>
              </a:rPr>
              <a:t>●  </a:t>
            </a:r>
            <a:r>
              <a:rPr sz="1400" b="1" i="0">
                <a:solidFill>
                  <a:srgbClr val="FFFFFF"/>
                </a:solidFill>
                <a:latin typeface="Arial"/>
              </a:rPr>
              <a:t>Univariate regression</a:t>
            </a:r>
            <a:r>
              <a:rPr sz="1400" b="0" i="0">
                <a:solidFill>
                  <a:srgbClr val="E6EAF0"/>
                </a:solidFill>
                <a:latin typeface="Arial"/>
              </a:rPr>
              <a:t> (peak severity from cumulative-ILI-through-W): MAE 1.26 / 1.12 / 0.92 at W=8/12/16. Beats climatology at every W; beats or ties the running-max floor at W=8, 12.</a:t>
            </a:r>
          </a:p>
          <a:p>
            <a:pPr>
              <a:lnSpc>
                <a:spcPct val="115000"/>
              </a:lnSpc>
              <a:spcAft>
                <a:spcPts val="1000"/>
              </a:spcAft>
            </a:pPr>
            <a:r>
              <a:rPr sz="1100" b="1" i="0">
                <a:solidFill>
                  <a:srgbClr val="EF5350"/>
                </a:solidFill>
                <a:latin typeface="Arial"/>
              </a:rPr>
              <a:t>●  </a:t>
            </a:r>
            <a:r>
              <a:rPr sz="1400" b="1" i="0">
                <a:solidFill>
                  <a:srgbClr val="FFFFFF"/>
                </a:solidFill>
                <a:latin typeface="Arial"/>
              </a:rPr>
              <a:t>Ridge + strain + vaccine coverage</a:t>
            </a:r>
            <a:r>
              <a:rPr sz="1400" b="0" i="0">
                <a:solidFill>
                  <a:srgbClr val="E6EAF0"/>
                </a:solidFill>
                <a:latin typeface="Arial"/>
              </a:rPr>
              <a:t>: no better than ILI alone. Those covariates carry no extra severity signal at this sample size.</a:t>
            </a:r>
          </a:p>
          <a:p>
            <a:pPr>
              <a:lnSpc>
                <a:spcPct val="115000"/>
              </a:lnSpc>
              <a:spcAft>
                <a:spcPts val="1000"/>
              </a:spcAft>
            </a:pPr>
            <a:r>
              <a:rPr sz="1100" b="1" i="0">
                <a:solidFill>
                  <a:srgbClr val="EF5350"/>
                </a:solidFill>
                <a:latin typeface="Arial"/>
              </a:rPr>
              <a:t>●  </a:t>
            </a:r>
            <a:r>
              <a:rPr sz="1400" b="1" i="0">
                <a:solidFill>
                  <a:srgbClr val="FFFFFF"/>
                </a:solidFill>
                <a:latin typeface="Arial"/>
              </a:rPr>
              <a:t>Gaussian</a:t>
            </a:r>
            <a:r>
              <a:rPr sz="1400" b="0" i="0">
                <a:solidFill>
                  <a:srgbClr val="E6EAF0"/>
                </a:solidFill>
                <a:latin typeface="Arial"/>
              </a:rPr>
              <a:t>: amplitude pins to the cap and overshoots (MAE 2.3-2.6 at W=8, 12), worse than climatology. Its apparent recovery to 1.47 at W=16 is scored on only 5 of 19 seasons, the ones its curve fit did not pin to a bound, so it is not comparable.</a:t>
            </a:r>
          </a:p>
        </p:txBody>
      </p:sp>
      <p:sp>
        <p:nvSpPr>
          <p:cNvPr id="7" name="TextBox 6"/>
          <p:cNvSpPr txBox="1"/>
          <p:nvPr/>
        </p:nvSpPr>
        <p:spPr>
          <a:xfrm>
            <a:off x="685800" y="5989320"/>
            <a:ext cx="10820095" cy="640080"/>
          </a:xfrm>
          <a:prstGeom prst="rect">
            <a:avLst/>
          </a:prstGeom>
          <a:noFill/>
        </p:spPr>
        <p:txBody>
          <a:bodyPr wrap="square" anchor="t" lIns="0" rIns="0" tIns="0" bIns="0">
            <a:spAutoFit/>
          </a:bodyPr>
          <a:lstStyle/>
          <a:p>
            <a:pPr>
              <a:lnSpc>
                <a:spcPct val="110000"/>
              </a:lnSpc>
            </a:pPr>
            <a:r>
              <a:rPr sz="1050" b="0" i="0">
                <a:solidFill>
                  <a:srgbClr val="9AA4B2"/>
                </a:solidFill>
                <a:latin typeface="Arial"/>
              </a:rPr>
              <a:t>Real-time-honest: ILINet is the one signal genuinely in hand at W. Strain (reporting lag) and vaccine coverage (revised survey) enter only the retrospective explanatory model. Reference series use all 19 modeled seasons; the Gaussian is scored on its forecast subset (n=19/18/5). See figures/09_severity_by_W.png.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PRIMARY AFFIRMATIVE FINDING  ·  CALIBRATION</a:t>
            </a:r>
          </a:p>
        </p:txBody>
      </p:sp>
      <p:sp>
        <p:nvSpPr>
          <p:cNvPr id="4" name="TextBox 3"/>
          <p:cNvSpPr txBox="1"/>
          <p:nvPr/>
        </p:nvSpPr>
        <p:spPr>
          <a:xfrm>
            <a:off x="685800" y="868680"/>
            <a:ext cx="10820095" cy="1188720"/>
          </a:xfrm>
          <a:prstGeom prst="rect">
            <a:avLst/>
          </a:prstGeom>
          <a:noFill/>
        </p:spPr>
        <p:txBody>
          <a:bodyPr wrap="square" anchor="t" lIns="0" rIns="0" tIns="0" bIns="0">
            <a:spAutoFit/>
          </a:bodyPr>
          <a:lstStyle/>
          <a:p>
            <a:r>
              <a:rPr sz="3000" b="1" i="0">
                <a:solidFill>
                  <a:srgbClr val="FFFFFF"/>
                </a:solidFill>
                <a:latin typeface="Arial"/>
              </a:rPr>
              <a:t>Prophet's 80% intervals are severely overconfident</a:t>
            </a:r>
          </a:p>
        </p:txBody>
      </p:sp>
      <p:graphicFrame>
        <p:nvGraphicFramePr>
          <p:cNvPr id="5" name="Chart 4"/>
          <p:cNvGraphicFramePr>
            <a:graphicFrameLocks noGrp="1"/>
          </p:cNvGraphicFramePr>
          <p:nvPr/>
        </p:nvGraphicFramePr>
        <p:xfrm>
          <a:off x="685800" y="1965960"/>
          <a:ext cx="5394960" cy="3794760"/>
        </p:xfrm>
        <a:graphic>
          <a:graphicData uri="http://schemas.openxmlformats.org/drawingml/2006/chart">
            <c:chart xmlns:c="http://schemas.openxmlformats.org/drawingml/2006/chart" r:id="rId2"/>
          </a:graphicData>
        </a:graphic>
      </p:graphicFrame>
      <p:sp>
        <p:nvSpPr>
          <p:cNvPr id="6" name="TextBox 5"/>
          <p:cNvSpPr txBox="1"/>
          <p:nvPr/>
        </p:nvSpPr>
        <p:spPr>
          <a:xfrm>
            <a:off x="6446520" y="2103120"/>
            <a:ext cx="5029200" cy="3291840"/>
          </a:xfrm>
          <a:prstGeom prst="rect">
            <a:avLst/>
          </a:prstGeom>
          <a:noFill/>
        </p:spPr>
        <p:txBody>
          <a:bodyPr wrap="square" anchor="t" lIns="0" rIns="0" tIns="0" bIns="0">
            <a:spAutoFit/>
          </a:bodyPr>
          <a:lstStyle/>
          <a:p>
            <a:pPr>
              <a:lnSpc>
                <a:spcPct val="115000"/>
              </a:lnSpc>
              <a:spcAft>
                <a:spcPts val="1100"/>
              </a:spcAft>
            </a:pPr>
            <a:r>
              <a:rPr sz="1200" b="1" i="0">
                <a:solidFill>
                  <a:srgbClr val="4FC3F7"/>
                </a:solidFill>
                <a:latin typeface="Arial"/>
              </a:rPr>
              <a:t>●  </a:t>
            </a:r>
            <a:r>
              <a:rPr sz="1500" b="0" i="0">
                <a:solidFill>
                  <a:srgbClr val="E6EAF0"/>
                </a:solidFill>
                <a:latin typeface="Arial"/>
              </a:rPr>
              <a:t>Prophet's intervals sit pinned near the historical-max ceiling: median 80% interval at W=12 is [7.09, 7.54] ILI.</a:t>
            </a:r>
          </a:p>
          <a:p>
            <a:pPr>
              <a:lnSpc>
                <a:spcPct val="115000"/>
              </a:lnSpc>
              <a:spcAft>
                <a:spcPts val="1100"/>
              </a:spcAft>
            </a:pPr>
            <a:r>
              <a:rPr sz="1200" b="1" i="0">
                <a:solidFill>
                  <a:srgbClr val="4FC3F7"/>
                </a:solidFill>
                <a:latin typeface="Arial"/>
              </a:rPr>
              <a:t>●  </a:t>
            </a:r>
            <a:r>
              <a:rPr sz="1500" b="0" i="0">
                <a:solidFill>
                  <a:srgbClr val="E6EAF0"/>
                </a:solidFill>
                <a:latin typeface="Arial"/>
              </a:rPr>
              <a:t>At W=12, </a:t>
            </a:r>
            <a:r>
              <a:rPr sz="1500" b="1" i="0">
                <a:solidFill>
                  <a:srgbClr val="FFFFFF"/>
                </a:solidFill>
                <a:latin typeface="Arial"/>
              </a:rPr>
              <a:t>14 of 17</a:t>
            </a:r>
            <a:r>
              <a:rPr sz="1500" b="0" i="0">
                <a:solidFill>
                  <a:srgbClr val="E6EAF0"/>
                </a:solidFill>
                <a:latin typeface="Arial"/>
              </a:rPr>
              <a:t> forecast seasons fall under that interval (2 above, 1 inside), a median 2.20 ILI points below its lower bound.</a:t>
            </a:r>
          </a:p>
          <a:p>
            <a:pPr>
              <a:lnSpc>
                <a:spcPct val="115000"/>
              </a:lnSpc>
              <a:spcAft>
                <a:spcPts val="1100"/>
              </a:spcAft>
            </a:pPr>
            <a:r>
              <a:rPr sz="1200" b="1" i="0">
                <a:solidFill>
                  <a:srgbClr val="4FC3F7"/>
                </a:solidFill>
                <a:latin typeface="Arial"/>
              </a:rPr>
              <a:t>●  </a:t>
            </a:r>
            <a:r>
              <a:rPr sz="1500" b="0" i="0">
                <a:solidFill>
                  <a:srgbClr val="E6EAF0"/>
                </a:solidFill>
                <a:latin typeface="Arial"/>
              </a:rPr>
              <a:t>Empirical 80% coverage is </a:t>
            </a:r>
            <a:r>
              <a:rPr sz="1500" b="1" i="0">
                <a:solidFill>
                  <a:srgbClr val="FFFFFF"/>
                </a:solidFill>
                <a:latin typeface="Arial"/>
              </a:rPr>
              <a:t>5.9-10.5%</a:t>
            </a:r>
            <a:r>
              <a:rPr sz="1500" b="0" i="0">
                <a:solidFill>
                  <a:srgbClr val="E6EAF0"/>
                </a:solidFill>
                <a:latin typeface="Arial"/>
              </a:rPr>
              <a:t> across W, about an order of magnitude too low.</a:t>
            </a:r>
          </a:p>
          <a:p>
            <a:pPr>
              <a:lnSpc>
                <a:spcPct val="115000"/>
              </a:lnSpc>
              <a:spcAft>
                <a:spcPts val="1100"/>
              </a:spcAft>
            </a:pPr>
            <a:r>
              <a:rPr sz="1200" b="1" i="0">
                <a:solidFill>
                  <a:srgbClr val="4FC3F7"/>
                </a:solidFill>
                <a:latin typeface="Arial"/>
              </a:rPr>
              <a:t>●  </a:t>
            </a:r>
            <a:r>
              <a:rPr sz="1500" b="0" i="0">
                <a:solidFill>
                  <a:srgbClr val="E6EAF0"/>
                </a:solidFill>
                <a:latin typeface="Arial"/>
              </a:rPr>
              <a:t>Same upward-extrapolation pathology as the point forecasts, now in the uncertainty bands.</a:t>
            </a:r>
          </a:p>
        </p:txBody>
      </p:sp>
      <p:sp>
        <p:nvSpPr>
          <p:cNvPr id="7" name="TextBox 6"/>
          <p:cNvSpPr txBox="1"/>
          <p:nvPr/>
        </p:nvSpPr>
        <p:spPr>
          <a:xfrm>
            <a:off x="685800" y="5989320"/>
            <a:ext cx="10820095" cy="640080"/>
          </a:xfrm>
          <a:prstGeom prst="rect">
            <a:avLst/>
          </a:prstGeom>
          <a:noFill/>
        </p:spPr>
        <p:txBody>
          <a:bodyPr wrap="square" anchor="t" lIns="0" rIns="0" tIns="0" bIns="0">
            <a:spAutoFit/>
          </a:bodyPr>
          <a:lstStyle/>
          <a:p>
            <a:pPr>
              <a:lnSpc>
                <a:spcPct val="110000"/>
              </a:lnSpc>
            </a:pPr>
            <a:r>
              <a:rPr sz="1050" b="0" i="0">
                <a:solidFill>
                  <a:srgbClr val="9AA4B2"/>
                </a:solidFill>
                <a:latin typeface="Arial"/>
              </a:rPr>
              <a:t>Coverage is granular at n=12-19 (1-2 seasons covered; one season ≈ 6 percentage points). An earlier unseeded run read 11.8% at W=12 because two seasons sit within 0.04 ILI of an interval edge; the fit is now seeded (seed=42) and 5.9% is reproducible. Per-season split: results/05_survivorship.md.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WHAT THE DATA SUPPORTS</a:t>
            </a:r>
          </a:p>
        </p:txBody>
      </p:sp>
      <p:sp>
        <p:nvSpPr>
          <p:cNvPr id="4" name="TextBox 3"/>
          <p:cNvSpPr txBox="1"/>
          <p:nvPr/>
        </p:nvSpPr>
        <p:spPr>
          <a:xfrm>
            <a:off x="685800" y="868680"/>
            <a:ext cx="10820095" cy="1188720"/>
          </a:xfrm>
          <a:prstGeom prst="rect">
            <a:avLst/>
          </a:prstGeom>
          <a:noFill/>
        </p:spPr>
        <p:txBody>
          <a:bodyPr wrap="square" anchor="t" lIns="0" rIns="0" tIns="0" bIns="0">
            <a:spAutoFit/>
          </a:bodyPr>
          <a:lstStyle/>
          <a:p>
            <a:r>
              <a:rPr sz="3000" b="1" i="0">
                <a:solidFill>
                  <a:srgbClr val="FFFFFF"/>
                </a:solidFill>
                <a:latin typeface="Arial"/>
              </a:rPr>
              <a:t>Honest characterization, two affirmative findings</a:t>
            </a:r>
          </a:p>
        </p:txBody>
      </p:sp>
      <p:sp>
        <p:nvSpPr>
          <p:cNvPr id="5" name="TextBox 4"/>
          <p:cNvSpPr txBox="1"/>
          <p:nvPr/>
        </p:nvSpPr>
        <p:spPr>
          <a:xfrm>
            <a:off x="685800" y="2148840"/>
            <a:ext cx="10607040" cy="2926080"/>
          </a:xfrm>
          <a:prstGeom prst="rect">
            <a:avLst/>
          </a:prstGeom>
          <a:noFill/>
        </p:spPr>
        <p:txBody>
          <a:bodyPr wrap="square" anchor="t" lIns="0" rIns="0" tIns="0" bIns="0">
            <a:spAutoFit/>
          </a:bodyPr>
          <a:lstStyle/>
          <a:p>
            <a:pPr>
              <a:lnSpc>
                <a:spcPct val="115000"/>
              </a:lnSpc>
              <a:spcAft>
                <a:spcPts val="1400"/>
              </a:spcAft>
            </a:pPr>
            <a:r>
              <a:rPr sz="1400" b="1" i="0">
                <a:solidFill>
                  <a:srgbClr val="66BB6A"/>
                </a:solidFill>
                <a:latin typeface="Arial"/>
              </a:rPr>
              <a:t>●  </a:t>
            </a:r>
            <a:r>
              <a:rPr sz="1700" b="1" i="0">
                <a:solidFill>
                  <a:srgbClr val="FFFFFF"/>
                </a:solidFill>
                <a:latin typeface="Arial"/>
              </a:rPr>
              <a:t>Severity is forecastable</a:t>
            </a:r>
            <a:r>
              <a:rPr sz="1700" b="0" i="0">
                <a:solidFill>
                  <a:srgbClr val="E6EAF0"/>
                </a:solidFill>
                <a:latin typeface="Arial"/>
              </a:rPr>
              <a:t> from early-season ILI intensity by a simple regression that beats the naive floor.</a:t>
            </a:r>
          </a:p>
          <a:p>
            <a:pPr>
              <a:lnSpc>
                <a:spcPct val="115000"/>
              </a:lnSpc>
              <a:spcAft>
                <a:spcPts val="1400"/>
              </a:spcAft>
            </a:pPr>
            <a:r>
              <a:rPr sz="1400" b="1" i="0">
                <a:solidFill>
                  <a:srgbClr val="66BB6A"/>
                </a:solidFill>
                <a:latin typeface="Arial"/>
              </a:rPr>
              <a:t>●  </a:t>
            </a:r>
            <a:r>
              <a:rPr sz="1700" b="1" i="0">
                <a:solidFill>
                  <a:srgbClr val="FFFFFF"/>
                </a:solidFill>
                <a:latin typeface="Arial"/>
              </a:rPr>
              <a:t>Off-the-shelf uncertainty is not trustworthy</a:t>
            </a:r>
            <a:r>
              <a:rPr sz="1700" b="0" i="0">
                <a:solidFill>
                  <a:srgbClr val="E6EAF0"/>
                </a:solidFill>
                <a:latin typeface="Arial"/>
              </a:rPr>
              <a:t>: Prophet's 80% intervals cover the truth 5.9-10.5% of the time.</a:t>
            </a:r>
          </a:p>
          <a:p>
            <a:pPr>
              <a:lnSpc>
                <a:spcPct val="115000"/>
              </a:lnSpc>
              <a:spcAft>
                <a:spcPts val="1400"/>
              </a:spcAft>
            </a:pPr>
            <a:r>
              <a:rPr sz="1400" b="1" i="0">
                <a:solidFill>
                  <a:srgbClr val="FFB74D"/>
                </a:solidFill>
                <a:latin typeface="Arial"/>
              </a:rPr>
              <a:t>●  </a:t>
            </a:r>
            <a:r>
              <a:rPr sz="1700" b="1" i="0">
                <a:solidFill>
                  <a:srgbClr val="FFFFFF"/>
                </a:solidFill>
                <a:latin typeface="Arial"/>
              </a:rPr>
              <a:t>Timing is near the noise floor</a:t>
            </a:r>
            <a:r>
              <a:rPr sz="1700" b="0" i="0">
                <a:solidFill>
                  <a:srgbClr val="E6EAF0"/>
                </a:solidFill>
                <a:latin typeface="Arial"/>
              </a:rPr>
              <a:t> at realistic lead times, and no model class here overcomes it.</a:t>
            </a:r>
          </a:p>
          <a:p>
            <a:pPr>
              <a:lnSpc>
                <a:spcPct val="115000"/>
              </a:lnSpc>
              <a:spcAft>
                <a:spcPts val="1400"/>
              </a:spcAft>
            </a:pPr>
            <a:r>
              <a:rPr sz="1400" b="1" i="0">
                <a:solidFill>
                  <a:srgbClr val="EF5350"/>
                </a:solidFill>
                <a:latin typeface="Arial"/>
              </a:rPr>
              <a:t>●  </a:t>
            </a:r>
            <a:r>
              <a:rPr sz="1700" b="1" i="0">
                <a:solidFill>
                  <a:srgbClr val="FFFFFF"/>
                </a:solidFill>
                <a:latin typeface="Arial"/>
              </a:rPr>
              <a:t>Strain, vaccine coverage, and a curve model add nothing</a:t>
            </a:r>
            <a:r>
              <a:rPr sz="1700" b="0" i="0">
                <a:solidFill>
                  <a:srgbClr val="E6EAF0"/>
                </a:solidFill>
                <a:latin typeface="Arial"/>
              </a:rPr>
              <a:t> at this sample size and these lead times.</a:t>
            </a:r>
          </a:p>
        </p:txBody>
      </p:sp>
      <p:sp>
        <p:nvSpPr>
          <p:cNvPr id="6" name="TextBox 5"/>
          <p:cNvSpPr txBox="1"/>
          <p:nvPr/>
        </p:nvSpPr>
        <p:spPr>
          <a:xfrm>
            <a:off x="685800" y="5212080"/>
            <a:ext cx="10424160" cy="914400"/>
          </a:xfrm>
          <a:prstGeom prst="rect">
            <a:avLst/>
          </a:prstGeom>
          <a:noFill/>
        </p:spPr>
        <p:txBody>
          <a:bodyPr wrap="square" anchor="t" lIns="0" rIns="0" tIns="0" bIns="0">
            <a:spAutoFit/>
          </a:bodyPr>
          <a:lstStyle/>
          <a:p>
            <a:pPr>
              <a:lnSpc>
                <a:spcPct val="120000"/>
              </a:lnSpc>
            </a:pPr>
            <a:r>
              <a:rPr sz="1500" b="0" i="0">
                <a:solidFill>
                  <a:srgbClr val="9AA4B2"/>
                </a:solidFill>
                <a:latin typeface="Arial"/>
              </a:rPr>
              <a:t>The binding constraint is not the model. It is that, standing at week W, the peak has not yet occurred and the sample is only 19 seasons.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820095" cy="365760"/>
          </a:xfrm>
          <a:prstGeom prst="rect">
            <a:avLst/>
          </a:prstGeom>
          <a:noFill/>
        </p:spPr>
        <p:txBody>
          <a:bodyPr wrap="square" anchor="t" lIns="0" rIns="0" tIns="0" bIns="0">
            <a:spAutoFit/>
          </a:bodyPr>
          <a:lstStyle/>
          <a:p>
            <a:r>
              <a:rPr sz="1300" b="1" i="0">
                <a:solidFill>
                  <a:srgbClr val="4FC3F7"/>
                </a:solidFill>
                <a:latin typeface="Arial"/>
              </a:rPr>
              <a:t>NEXT STEPS</a:t>
            </a:r>
          </a:p>
        </p:txBody>
      </p:sp>
      <p:sp>
        <p:nvSpPr>
          <p:cNvPr id="4" name="TextBox 3"/>
          <p:cNvSpPr txBox="1"/>
          <p:nvPr/>
        </p:nvSpPr>
        <p:spPr>
          <a:xfrm>
            <a:off x="685800" y="868680"/>
            <a:ext cx="10820095" cy="1188720"/>
          </a:xfrm>
          <a:prstGeom prst="rect">
            <a:avLst/>
          </a:prstGeom>
          <a:noFill/>
        </p:spPr>
        <p:txBody>
          <a:bodyPr wrap="square" anchor="t" lIns="0" rIns="0" tIns="0" bIns="0">
            <a:spAutoFit/>
          </a:bodyPr>
          <a:lstStyle/>
          <a:p>
            <a:r>
              <a:rPr sz="3000" b="1" i="0">
                <a:solidFill>
                  <a:srgbClr val="FFFFFF"/>
                </a:solidFill>
                <a:latin typeface="Arial"/>
              </a:rPr>
              <a:t>Where this goes</a:t>
            </a:r>
          </a:p>
        </p:txBody>
      </p:sp>
      <p:sp>
        <p:nvSpPr>
          <p:cNvPr id="5" name="TextBox 4"/>
          <p:cNvSpPr txBox="1"/>
          <p:nvPr/>
        </p:nvSpPr>
        <p:spPr>
          <a:xfrm>
            <a:off x="685800" y="2148840"/>
            <a:ext cx="10607040" cy="2926080"/>
          </a:xfrm>
          <a:prstGeom prst="rect">
            <a:avLst/>
          </a:prstGeom>
          <a:noFill/>
        </p:spPr>
        <p:txBody>
          <a:bodyPr wrap="square" anchor="t" lIns="0" rIns="0" tIns="0" bIns="0">
            <a:spAutoFit/>
          </a:bodyPr>
          <a:lstStyle/>
          <a:p>
            <a:pPr>
              <a:lnSpc>
                <a:spcPct val="115000"/>
              </a:lnSpc>
              <a:spcAft>
                <a:spcPts val="1300"/>
              </a:spcAft>
            </a:pPr>
            <a:r>
              <a:rPr sz="1300" b="1" i="0">
                <a:solidFill>
                  <a:srgbClr val="4FC3F7"/>
                </a:solidFill>
                <a:latin typeface="Arial"/>
              </a:rPr>
              <a:t>●  </a:t>
            </a:r>
            <a:r>
              <a:rPr sz="1600" b="0" i="0">
                <a:solidFill>
                  <a:srgbClr val="E6EAF0"/>
                </a:solidFill>
                <a:latin typeface="Arial"/>
              </a:rPr>
              <a:t>Report calibration as a first-class metric, not point error alone; recalibrate or widen intervals honestly.</a:t>
            </a:r>
          </a:p>
          <a:p>
            <a:pPr>
              <a:lnSpc>
                <a:spcPct val="115000"/>
              </a:lnSpc>
              <a:spcAft>
                <a:spcPts val="1300"/>
              </a:spcAft>
            </a:pPr>
            <a:r>
              <a:rPr sz="1300" b="1" i="0">
                <a:solidFill>
                  <a:srgbClr val="4FC3F7"/>
                </a:solidFill>
                <a:latin typeface="Arial"/>
              </a:rPr>
              <a:t>●  </a:t>
            </a:r>
            <a:r>
              <a:rPr sz="1600" b="0" i="0">
                <a:solidFill>
                  <a:srgbClr val="E6EAF0"/>
                </a:solidFill>
                <a:latin typeface="Arial"/>
              </a:rPr>
              <a:t>Test whether a mechanistic / compartmental curve (not a symmetric Gaussian) locates the turnover any earlier.</a:t>
            </a:r>
          </a:p>
          <a:p>
            <a:pPr>
              <a:lnSpc>
                <a:spcPct val="115000"/>
              </a:lnSpc>
              <a:spcAft>
                <a:spcPts val="1300"/>
              </a:spcAft>
            </a:pPr>
            <a:r>
              <a:rPr sz="1300" b="1" i="0">
                <a:solidFill>
                  <a:srgbClr val="4FC3F7"/>
                </a:solidFill>
                <a:latin typeface="Arial"/>
              </a:rPr>
              <a:t>●  </a:t>
            </a:r>
            <a:r>
              <a:rPr sz="1600" b="0" i="0">
                <a:solidFill>
                  <a:srgbClr val="E6EAF0"/>
                </a:solidFill>
                <a:latin typeface="Arial"/>
              </a:rPr>
              <a:t>Robustness check on one or two HHS regions once the national methodology is locked.</a:t>
            </a:r>
          </a:p>
          <a:p>
            <a:pPr>
              <a:lnSpc>
                <a:spcPct val="115000"/>
              </a:lnSpc>
              <a:spcAft>
                <a:spcPts val="1300"/>
              </a:spcAft>
            </a:pPr>
            <a:r>
              <a:rPr sz="1300" b="1" i="0">
                <a:solidFill>
                  <a:srgbClr val="4FC3F7"/>
                </a:solidFill>
                <a:latin typeface="Arial"/>
              </a:rPr>
              <a:t>●  </a:t>
            </a:r>
            <a:r>
              <a:rPr sz="1600" b="0" i="0">
                <a:solidFill>
                  <a:srgbClr val="E6EAF0"/>
                </a:solidFill>
                <a:latin typeface="Arial"/>
              </a:rPr>
              <a:t>Reframe the template's “±1 week on ≥70% of seasons” as an aspirational goal, not a deliverable, given the floor.</a:t>
            </a:r>
          </a:p>
        </p:txBody>
      </p:sp>
      <p:sp>
        <p:nvSpPr>
          <p:cNvPr id="6" name="TextBox 5"/>
          <p:cNvSpPr txBox="1"/>
          <p:nvPr/>
        </p:nvSpPr>
        <p:spPr>
          <a:xfrm>
            <a:off x="685800" y="5394960"/>
            <a:ext cx="10424160" cy="914400"/>
          </a:xfrm>
          <a:prstGeom prst="rect">
            <a:avLst/>
          </a:prstGeom>
          <a:noFill/>
        </p:spPr>
        <p:txBody>
          <a:bodyPr wrap="square" anchor="t" lIns="0" rIns="0" tIns="0" bIns="0">
            <a:spAutoFit/>
          </a:bodyPr>
          <a:lstStyle/>
          <a:p>
            <a:pPr>
              <a:lnSpc>
                <a:spcPct val="120000"/>
              </a:lnSpc>
            </a:pPr>
            <a:r>
              <a:rPr sz="1400" b="0" i="0">
                <a:solidFill>
                  <a:srgbClr val="9AA4B2"/>
                </a:solidFill>
                <a:latin typeface="Arial"/>
              </a:rPr>
              <a:t>Reproducible pipeline (notebooks 01-06), strict leakage firewall, results in results/. Preliminary and descriptive.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